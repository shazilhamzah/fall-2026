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57" r:id="rId13"/>
    <p:sldId id="258" r:id="rId14"/>
    <p:sldId id="259" r:id="rId15"/>
    <p:sldId id="271" r:id="rId16"/>
    <p:sldId id="272" r:id="rId17"/>
    <p:sldId id="273" r:id="rId18"/>
    <p:sldId id="270" r:id="rId1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5800-A76C-445B-8F71-430D181061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17FBBF64-ED43-427B-9C1A-E9045D3FCA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D866DAEB-CB07-45E3-B33F-E0725B5CDF09}"/>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0CE82AC6-7201-4E5D-96C8-7505B904167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7B45D6F-84A9-4D6B-9326-F4C2C9F7DA6E}"/>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164958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FC304-B140-4D8E-9716-2EC62AE5F1B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2E593D2-02BE-4F99-A916-C229D97749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1E75AB8-90E8-4138-8496-DA5D1BE44384}"/>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DF086E65-E4BE-407F-B3B6-B81ECAEE547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8154EB8-E1AB-4D8B-9562-4BE1C35D690E}"/>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3190923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AA100-831C-4A61-956F-830877F8EE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C8A878DE-5CC0-4A47-ABA2-EC0D639B90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A49CE7-F234-4B91-AC1A-176B1078813A}"/>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548A068D-B9DF-431F-A4B8-B7E37CB1689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82EB724-219E-4601-9ADF-563106B664EC}"/>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3320148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4C4E-60A2-41FF-983C-2276DFCDC1E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CFFEC136-1365-4A7A-AECB-1A96D4421B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2EE8CEA-107D-459B-B7A6-D8C095C04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7F7BBB0-9E6F-49AD-8EBD-A1BB9726AB37}"/>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6" name="Footer Placeholder 5">
            <a:extLst>
              <a:ext uri="{FF2B5EF4-FFF2-40B4-BE49-F238E27FC236}">
                <a16:creationId xmlns:a16="http://schemas.microsoft.com/office/drawing/2014/main" id="{1BE2A5F2-DD69-4F9A-8C53-6A775321B6F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3B7F48C-1871-4388-8348-3E6BE8251121}"/>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2390235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567A6-B333-44E2-8D66-9CC1607FF19E}"/>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4EDB762-FC14-43BE-B5CE-AFF144A492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04FF41-D408-44F2-80AC-AAD38FC69E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D19C83D0-4E65-431C-9798-D714DE7B59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43DEE5-2182-4439-A7C6-64D82803DD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7A94BA35-33B9-495C-8198-68D9A90C6D2F}"/>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8" name="Footer Placeholder 7">
            <a:extLst>
              <a:ext uri="{FF2B5EF4-FFF2-40B4-BE49-F238E27FC236}">
                <a16:creationId xmlns:a16="http://schemas.microsoft.com/office/drawing/2014/main" id="{6BC23FD8-1EF9-4C65-9E34-D41340AA0F8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986EA0A-3386-48E9-8127-CEDF522886B1}"/>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3275128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8FBB6-6BAB-4BCB-9555-498AD273058D}"/>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4FD3F648-FCA3-4A57-8C29-CD29EE85A15A}"/>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4" name="Footer Placeholder 3">
            <a:extLst>
              <a:ext uri="{FF2B5EF4-FFF2-40B4-BE49-F238E27FC236}">
                <a16:creationId xmlns:a16="http://schemas.microsoft.com/office/drawing/2014/main" id="{E81F77DF-2E43-4CE8-9D13-7BFF43A625FC}"/>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9A9F43AD-8D08-4C01-B005-E2547D6797AD}"/>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380016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4ECBCB-B710-4517-AEE1-4BCD9FA86EFD}"/>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3" name="Footer Placeholder 2">
            <a:extLst>
              <a:ext uri="{FF2B5EF4-FFF2-40B4-BE49-F238E27FC236}">
                <a16:creationId xmlns:a16="http://schemas.microsoft.com/office/drawing/2014/main" id="{0BC09A75-5E0A-42EE-8E82-DE60E3CD5AAA}"/>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7F987A63-1519-4221-B64D-E95B6B16FBBD}"/>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1619762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5ACB-7C00-47F1-AA11-AEA97807B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7CE10F91-1FB2-4065-8825-50CF872C5A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349504A2-449C-4728-96FB-D0694FB2A2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72189-7ACD-4692-8AB8-E56E4E824D94}"/>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6" name="Footer Placeholder 5">
            <a:extLst>
              <a:ext uri="{FF2B5EF4-FFF2-40B4-BE49-F238E27FC236}">
                <a16:creationId xmlns:a16="http://schemas.microsoft.com/office/drawing/2014/main" id="{943D8FCA-E7E9-4509-B088-85AFAE03C60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6DF61B4-7EDA-4709-A236-479ECD468B1A}"/>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304741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A64EB-0BA9-4FFB-931D-694B55CB6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A3CD290-A781-4D7D-9D55-4988139C7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E0742D5-15FD-4212-A165-40ECA5BC0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E5690F-708B-4981-98F0-EBB6DC83E502}"/>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6" name="Footer Placeholder 5">
            <a:extLst>
              <a:ext uri="{FF2B5EF4-FFF2-40B4-BE49-F238E27FC236}">
                <a16:creationId xmlns:a16="http://schemas.microsoft.com/office/drawing/2014/main" id="{9F8D0F3F-9673-48A7-8A31-2D327574D14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B5352AC-5533-4355-85C9-38F7830DD3E8}"/>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1078005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F3FD-A92B-47E8-81A3-022958AE27AE}"/>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494C733-71C5-4DD4-8A5F-9D873A7E2D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0BF83E4-B1A7-4188-8B27-28C9DDDA36D8}"/>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B930DB0C-4A34-4212-97A3-AA16C898EE9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1980FA7-88EB-4DA0-BE83-9215DEEF7B08}"/>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1450890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FEF365-AD46-4742-B20A-67487AB22C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996FEF3-402A-4DE1-B85B-77E885CC1E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0E1C156-83C8-4C3A-9E38-C18199D2F06A}"/>
              </a:ext>
            </a:extLst>
          </p:cNvPr>
          <p:cNvSpPr>
            <a:spLocks noGrp="1"/>
          </p:cNvSpPr>
          <p:nvPr>
            <p:ph type="dt" sz="half" idx="10"/>
          </p:nvPr>
        </p:nvSpPr>
        <p:spPr/>
        <p:txBody>
          <a:body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EB752EF3-5553-4D5E-9524-7C02864CD7E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FBA8405-F60C-4F48-8F74-DE37BF60E29F}"/>
              </a:ext>
            </a:extLst>
          </p:cNvPr>
          <p:cNvSpPr>
            <a:spLocks noGrp="1"/>
          </p:cNvSpPr>
          <p:nvPr>
            <p:ph type="sldNum" sz="quarter" idx="12"/>
          </p:nvPr>
        </p:nvSpPr>
        <p:spPr/>
        <p:txBody>
          <a:bodyPr/>
          <a:lstStyle/>
          <a:p>
            <a:fld id="{BF1A584C-314D-4A32-9D2E-3D0B85F7FC8D}" type="slidenum">
              <a:rPr lang="en-PK" smtClean="0"/>
              <a:t>‹#›</a:t>
            </a:fld>
            <a:endParaRPr lang="en-PK"/>
          </a:p>
        </p:txBody>
      </p:sp>
    </p:spTree>
    <p:extLst>
      <p:ext uri="{BB962C8B-B14F-4D97-AF65-F5344CB8AC3E}">
        <p14:creationId xmlns:p14="http://schemas.microsoft.com/office/powerpoint/2010/main" val="655507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B8FF81-6C18-4D11-8C77-E6C9E62D2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F07DA07-8214-4A60-8F7F-98FA65A03E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3D4D96F-C1CD-47B2-AD19-56EBDEF784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DABB8-3FC0-4AF2-9F5B-F39CCDF4168E}" type="datetimeFigureOut">
              <a:rPr lang="en-PK" smtClean="0"/>
              <a:t>08/20/2026</a:t>
            </a:fld>
            <a:endParaRPr lang="en-PK"/>
          </a:p>
        </p:txBody>
      </p:sp>
      <p:sp>
        <p:nvSpPr>
          <p:cNvPr id="5" name="Footer Placeholder 4">
            <a:extLst>
              <a:ext uri="{FF2B5EF4-FFF2-40B4-BE49-F238E27FC236}">
                <a16:creationId xmlns:a16="http://schemas.microsoft.com/office/drawing/2014/main" id="{7A8F5A2B-61A2-4C38-9353-DC261D2F91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1D9A4AE2-E3F0-4682-B2CF-2A2A4301D4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A584C-314D-4A32-9D2E-3D0B85F7FC8D}" type="slidenum">
              <a:rPr lang="en-PK" smtClean="0"/>
              <a:t>‹#›</a:t>
            </a:fld>
            <a:endParaRPr lang="en-PK"/>
          </a:p>
        </p:txBody>
      </p:sp>
    </p:spTree>
    <p:extLst>
      <p:ext uri="{BB962C8B-B14F-4D97-AF65-F5344CB8AC3E}">
        <p14:creationId xmlns:p14="http://schemas.microsoft.com/office/powerpoint/2010/main" val="3761541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3A238-645A-4809-8D47-4C48571B191E}"/>
              </a:ext>
            </a:extLst>
          </p:cNvPr>
          <p:cNvSpPr>
            <a:spLocks noGrp="1"/>
          </p:cNvSpPr>
          <p:nvPr>
            <p:ph type="ctrTitle"/>
          </p:nvPr>
        </p:nvSpPr>
        <p:spPr/>
        <p:txBody>
          <a:bodyPr/>
          <a:lstStyle/>
          <a:p>
            <a:r>
              <a:rPr lang="en-US" dirty="0"/>
              <a:t>Software Re-Engineering</a:t>
            </a:r>
            <a:br>
              <a:rPr lang="en-US" dirty="0"/>
            </a:br>
            <a:r>
              <a:rPr lang="en-US" dirty="0"/>
              <a:t>CS4118</a:t>
            </a:r>
            <a:endParaRPr lang="en-PK" dirty="0"/>
          </a:p>
        </p:txBody>
      </p:sp>
      <p:sp>
        <p:nvSpPr>
          <p:cNvPr id="3" name="Subtitle 2">
            <a:extLst>
              <a:ext uri="{FF2B5EF4-FFF2-40B4-BE49-F238E27FC236}">
                <a16:creationId xmlns:a16="http://schemas.microsoft.com/office/drawing/2014/main" id="{D61F27BE-20A6-42D8-8B74-D63C8B8EEA57}"/>
              </a:ext>
            </a:extLst>
          </p:cNvPr>
          <p:cNvSpPr>
            <a:spLocks noGrp="1"/>
          </p:cNvSpPr>
          <p:nvPr>
            <p:ph type="subTitle" idx="1"/>
          </p:nvPr>
        </p:nvSpPr>
        <p:spPr/>
        <p:txBody>
          <a:bodyPr/>
          <a:lstStyle/>
          <a:p>
            <a:r>
              <a:rPr lang="en-US" dirty="0"/>
              <a:t>Intro to Software Re-Engineering</a:t>
            </a:r>
          </a:p>
          <a:p>
            <a:r>
              <a:rPr lang="en-US" dirty="0" err="1"/>
              <a:t>Lect</a:t>
            </a:r>
            <a:r>
              <a:rPr lang="en-US" dirty="0"/>
              <a:t> 1,2</a:t>
            </a:r>
            <a:endParaRPr lang="en-PK" dirty="0"/>
          </a:p>
        </p:txBody>
      </p:sp>
    </p:spTree>
    <p:extLst>
      <p:ext uri="{BB962C8B-B14F-4D97-AF65-F5344CB8AC3E}">
        <p14:creationId xmlns:p14="http://schemas.microsoft.com/office/powerpoint/2010/main" val="1387211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9F02C-F066-4E5E-BE7E-5A38420C3120}"/>
              </a:ext>
            </a:extLst>
          </p:cNvPr>
          <p:cNvSpPr>
            <a:spLocks noGrp="1"/>
          </p:cNvSpPr>
          <p:nvPr>
            <p:ph type="title"/>
          </p:nvPr>
        </p:nvSpPr>
        <p:spPr/>
        <p:txBody>
          <a:bodyPr/>
          <a:lstStyle/>
          <a:p>
            <a:r>
              <a:rPr lang="en-US" dirty="0"/>
              <a:t>A Fairy Tale</a:t>
            </a:r>
            <a:endParaRPr lang="en-PK" dirty="0"/>
          </a:p>
        </p:txBody>
      </p:sp>
      <p:sp>
        <p:nvSpPr>
          <p:cNvPr id="3" name="Content Placeholder 2">
            <a:extLst>
              <a:ext uri="{FF2B5EF4-FFF2-40B4-BE49-F238E27FC236}">
                <a16:creationId xmlns:a16="http://schemas.microsoft.com/office/drawing/2014/main" id="{97CAAA62-16DF-4C49-8EDD-E95CF19EAB45}"/>
              </a:ext>
            </a:extLst>
          </p:cNvPr>
          <p:cNvSpPr>
            <a:spLocks noGrp="1"/>
          </p:cNvSpPr>
          <p:nvPr>
            <p:ph idx="1"/>
          </p:nvPr>
        </p:nvSpPr>
        <p:spPr/>
        <p:txBody>
          <a:bodyPr>
            <a:normAutofit/>
          </a:bodyPr>
          <a:lstStyle/>
          <a:p>
            <a:pPr algn="l"/>
            <a:r>
              <a:rPr lang="en-US" sz="3200" b="0" i="0" u="none" strike="noStrike" baseline="0" dirty="0">
                <a:latin typeface="URWPalladioL-Roma"/>
              </a:rPr>
              <a:t>Once upon a time there was a Good Software  Engineer whose Customers knew exactly what they wanted. The Good Software Engineer worked very hard to design the Perfect System that would solve all the Customers’ problems now and for decades. When the Perfect System was designed, implemented and finally deployed, the Customers were very happy indeed. The Maintainer of the System had very little to do to keep the Perfect System up and running, and the Customers and the Maintainer lived happily every after.</a:t>
            </a:r>
            <a:endParaRPr lang="en-PK" sz="3200" dirty="0"/>
          </a:p>
        </p:txBody>
      </p:sp>
    </p:spTree>
    <p:extLst>
      <p:ext uri="{BB962C8B-B14F-4D97-AF65-F5344CB8AC3E}">
        <p14:creationId xmlns:p14="http://schemas.microsoft.com/office/powerpoint/2010/main" val="581568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CF39-8D4B-4AAC-ACD3-D9813901A9A2}"/>
              </a:ext>
            </a:extLst>
          </p:cNvPr>
          <p:cNvSpPr>
            <a:spLocks noGrp="1"/>
          </p:cNvSpPr>
          <p:nvPr>
            <p:ph type="title"/>
          </p:nvPr>
        </p:nvSpPr>
        <p:spPr/>
        <p:txBody>
          <a:bodyPr/>
          <a:lstStyle/>
          <a:p>
            <a:r>
              <a:rPr lang="en-US" dirty="0"/>
              <a:t>A Fairy Tale</a:t>
            </a:r>
            <a:endParaRPr lang="en-PK" dirty="0"/>
          </a:p>
        </p:txBody>
      </p:sp>
      <p:sp>
        <p:nvSpPr>
          <p:cNvPr id="3" name="Content Placeholder 2">
            <a:extLst>
              <a:ext uri="{FF2B5EF4-FFF2-40B4-BE49-F238E27FC236}">
                <a16:creationId xmlns:a16="http://schemas.microsoft.com/office/drawing/2014/main" id="{8550F1E9-614C-43E9-AAEC-45AC3224F92C}"/>
              </a:ext>
            </a:extLst>
          </p:cNvPr>
          <p:cNvSpPr>
            <a:spLocks noGrp="1"/>
          </p:cNvSpPr>
          <p:nvPr>
            <p:ph idx="1"/>
          </p:nvPr>
        </p:nvSpPr>
        <p:spPr/>
        <p:txBody>
          <a:bodyPr>
            <a:normAutofit/>
          </a:bodyPr>
          <a:lstStyle/>
          <a:p>
            <a:r>
              <a:rPr lang="en-US" sz="3600" b="0" i="0" u="none" strike="noStrike" baseline="0" dirty="0">
                <a:latin typeface="URWPalladioL-Roma"/>
              </a:rPr>
              <a:t>Why isn’t real life more like this fairy tale?</a:t>
            </a:r>
          </a:p>
          <a:p>
            <a:pPr algn="l"/>
            <a:r>
              <a:rPr lang="en-US" sz="3600" b="0" i="0" u="none" strike="noStrike" baseline="0" dirty="0">
                <a:latin typeface="URWPalladioL-Roma"/>
              </a:rPr>
              <a:t>Could it be because there are no Good Software Engineers? </a:t>
            </a:r>
          </a:p>
          <a:p>
            <a:pPr algn="l"/>
            <a:r>
              <a:rPr lang="en-US" sz="3600" b="0" i="0" u="none" strike="noStrike" baseline="0" dirty="0">
                <a:latin typeface="URWPalladioL-Roma"/>
              </a:rPr>
              <a:t>Could it be because the Users don’t really know what they want?</a:t>
            </a:r>
          </a:p>
          <a:p>
            <a:pPr algn="l"/>
            <a:r>
              <a:rPr lang="en-US" sz="3600" b="0" i="0" u="none" strike="noStrike" baseline="0" dirty="0">
                <a:latin typeface="URWPalladioL-Roma"/>
              </a:rPr>
              <a:t> Or is it because the Perfect System doesn’t exist?</a:t>
            </a:r>
            <a:endParaRPr lang="en-PK" sz="3600" dirty="0"/>
          </a:p>
        </p:txBody>
      </p:sp>
    </p:spTree>
    <p:extLst>
      <p:ext uri="{BB962C8B-B14F-4D97-AF65-F5344CB8AC3E}">
        <p14:creationId xmlns:p14="http://schemas.microsoft.com/office/powerpoint/2010/main" val="190514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21388-7AD9-4C5C-A069-7B73ECC42C07}"/>
              </a:ext>
            </a:extLst>
          </p:cNvPr>
          <p:cNvSpPr>
            <a:spLocks noGrp="1"/>
          </p:cNvSpPr>
          <p:nvPr>
            <p:ph type="title"/>
          </p:nvPr>
        </p:nvSpPr>
        <p:spPr/>
        <p:txBody>
          <a:bodyPr>
            <a:normAutofit/>
          </a:bodyPr>
          <a:lstStyle/>
          <a:p>
            <a:r>
              <a:rPr lang="en-US" sz="3600" b="0" i="0" u="none" strike="noStrike" baseline="0" dirty="0">
                <a:latin typeface="URWPalladioL-Roma"/>
              </a:rPr>
              <a:t>Manny Lehman and Les </a:t>
            </a:r>
            <a:r>
              <a:rPr lang="en-US" sz="3600" b="0" i="0" u="none" strike="noStrike" baseline="0" dirty="0" err="1">
                <a:latin typeface="URWPalladioL-Roma"/>
              </a:rPr>
              <a:t>Belady</a:t>
            </a:r>
            <a:r>
              <a:rPr lang="en-US" sz="3600" b="0" i="0" u="none" strike="noStrike" baseline="0" dirty="0">
                <a:latin typeface="URWPalladioL-Roma"/>
              </a:rPr>
              <a:t> Laws</a:t>
            </a:r>
            <a:endParaRPr lang="en-PK" sz="3600" dirty="0"/>
          </a:p>
        </p:txBody>
      </p:sp>
      <p:sp>
        <p:nvSpPr>
          <p:cNvPr id="3" name="Content Placeholder 2">
            <a:extLst>
              <a:ext uri="{FF2B5EF4-FFF2-40B4-BE49-F238E27FC236}">
                <a16:creationId xmlns:a16="http://schemas.microsoft.com/office/drawing/2014/main" id="{29B083BA-DB3B-45F3-8376-4A16F8B7C794}"/>
              </a:ext>
            </a:extLst>
          </p:cNvPr>
          <p:cNvSpPr>
            <a:spLocks noGrp="1"/>
          </p:cNvSpPr>
          <p:nvPr>
            <p:ph idx="1"/>
          </p:nvPr>
        </p:nvSpPr>
        <p:spPr/>
        <p:txBody>
          <a:bodyPr>
            <a:normAutofit/>
          </a:bodyPr>
          <a:lstStyle/>
          <a:p>
            <a:pPr algn="l"/>
            <a:r>
              <a:rPr lang="en-US" sz="3200" b="0" i="0" u="none" strike="noStrike" baseline="0" dirty="0">
                <a:latin typeface="URWPalladioL-Ital"/>
              </a:rPr>
              <a:t>The Law of Continuing Change </a:t>
            </a:r>
            <a:r>
              <a:rPr lang="en-US" sz="3200" b="0" i="0" u="none" strike="noStrike" baseline="0" dirty="0">
                <a:latin typeface="URWPalladioL-Roma"/>
              </a:rPr>
              <a:t>—A program that is used in a </a:t>
            </a:r>
            <a:r>
              <a:rPr lang="en-US" sz="3200" b="0" i="0" u="none" strike="noStrike" baseline="0" dirty="0" err="1">
                <a:latin typeface="URWPalladioL-Roma"/>
              </a:rPr>
              <a:t>realworld</a:t>
            </a:r>
            <a:r>
              <a:rPr lang="en-US" sz="3200" b="0" i="0" u="none" strike="noStrike" baseline="0" dirty="0">
                <a:latin typeface="URWPalladioL-Roma"/>
              </a:rPr>
              <a:t> environment must change, or become progressively less useful in that environment.</a:t>
            </a:r>
          </a:p>
          <a:p>
            <a:pPr algn="l"/>
            <a:r>
              <a:rPr lang="en-US" sz="3200" b="0" i="0" u="none" strike="noStrike" baseline="0" dirty="0">
                <a:latin typeface="URWPalladioL-Ital"/>
              </a:rPr>
              <a:t>The Law of Increasing Complexity </a:t>
            </a:r>
            <a:r>
              <a:rPr lang="en-US" sz="3200" b="0" i="0" u="none" strike="noStrike" baseline="0" dirty="0">
                <a:latin typeface="URWPalladioL-Roma"/>
              </a:rPr>
              <a:t>— As a program evolves, it becomes</a:t>
            </a:r>
            <a:r>
              <a:rPr lang="en-US" sz="3200" dirty="0">
                <a:latin typeface="URWPalladioL-Roma"/>
              </a:rPr>
              <a:t> </a:t>
            </a:r>
            <a:r>
              <a:rPr lang="en-US" sz="3200" b="0" i="0" u="none" strike="noStrike" baseline="0" dirty="0">
                <a:latin typeface="URWPalladioL-Roma"/>
              </a:rPr>
              <a:t>more complex, and extra resources are needed to preserve and simplify its structure.</a:t>
            </a:r>
            <a:endParaRPr lang="en-PK" sz="3200" dirty="0"/>
          </a:p>
        </p:txBody>
      </p:sp>
    </p:spTree>
    <p:extLst>
      <p:ext uri="{BB962C8B-B14F-4D97-AF65-F5344CB8AC3E}">
        <p14:creationId xmlns:p14="http://schemas.microsoft.com/office/powerpoint/2010/main" val="3038373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2AEA-3AC3-4F51-8965-F214CE4A8720}"/>
              </a:ext>
            </a:extLst>
          </p:cNvPr>
          <p:cNvSpPr>
            <a:spLocks noGrp="1"/>
          </p:cNvSpPr>
          <p:nvPr>
            <p:ph type="title"/>
          </p:nvPr>
        </p:nvSpPr>
        <p:spPr/>
        <p:txBody>
          <a:bodyPr/>
          <a:lstStyle/>
          <a:p>
            <a:r>
              <a:rPr lang="en-US" dirty="0"/>
              <a:t>Legacy Systems</a:t>
            </a:r>
            <a:endParaRPr lang="en-PK" dirty="0"/>
          </a:p>
        </p:txBody>
      </p:sp>
      <p:sp>
        <p:nvSpPr>
          <p:cNvPr id="3" name="Content Placeholder 2">
            <a:extLst>
              <a:ext uri="{FF2B5EF4-FFF2-40B4-BE49-F238E27FC236}">
                <a16:creationId xmlns:a16="http://schemas.microsoft.com/office/drawing/2014/main" id="{105B1221-B13A-42A0-B842-5696BF6E562A}"/>
              </a:ext>
            </a:extLst>
          </p:cNvPr>
          <p:cNvSpPr>
            <a:spLocks noGrp="1"/>
          </p:cNvSpPr>
          <p:nvPr>
            <p:ph idx="1"/>
          </p:nvPr>
        </p:nvSpPr>
        <p:spPr/>
        <p:txBody>
          <a:bodyPr>
            <a:normAutofit/>
          </a:bodyPr>
          <a:lstStyle/>
          <a:p>
            <a:r>
              <a:rPr lang="en-US" sz="3200" b="0" i="0" u="none" strike="noStrike" baseline="0" dirty="0">
                <a:latin typeface="URWPalladioL-Roma"/>
              </a:rPr>
              <a:t>A legacy is something </a:t>
            </a:r>
            <a:r>
              <a:rPr lang="en-US" sz="3200" b="0" i="0" u="none" strike="noStrike" baseline="0" dirty="0">
                <a:latin typeface="URWPalladioL-Ital"/>
              </a:rPr>
              <a:t>valuable </a:t>
            </a:r>
            <a:r>
              <a:rPr lang="en-US" sz="3200" b="0" i="0" u="none" strike="noStrike" baseline="0" dirty="0">
                <a:latin typeface="URWPalladioL-Roma"/>
              </a:rPr>
              <a:t>that you have </a:t>
            </a:r>
            <a:r>
              <a:rPr lang="en-US" sz="3200" b="0" i="0" u="none" strike="noStrike" baseline="0" dirty="0">
                <a:latin typeface="URWPalladioL-Ital"/>
              </a:rPr>
              <a:t>inherited.</a:t>
            </a:r>
          </a:p>
          <a:p>
            <a:r>
              <a:rPr lang="en-US" sz="3200" dirty="0">
                <a:latin typeface="URWPalladioL-Ital"/>
              </a:rPr>
              <a:t>It may be old-fashioned.</a:t>
            </a:r>
          </a:p>
          <a:p>
            <a:pPr algn="l"/>
            <a:r>
              <a:rPr lang="en-US" sz="3200" b="0" i="0" u="none" strike="noStrike" baseline="0" dirty="0">
                <a:latin typeface="URWPalladioL-Roma"/>
              </a:rPr>
              <a:t>may have been developed using an outdated programming language, or an obsolete development method.</a:t>
            </a:r>
          </a:p>
          <a:p>
            <a:pPr algn="l"/>
            <a:r>
              <a:rPr lang="en-US" sz="3200" b="0" i="0" u="none" strike="noStrike" baseline="0" dirty="0">
                <a:latin typeface="URWPalladioL-Roma"/>
              </a:rPr>
              <a:t>Most likely it has changed hands several times, and shows signs of many modifications and adaptations.</a:t>
            </a:r>
          </a:p>
          <a:p>
            <a:pPr algn="l"/>
            <a:r>
              <a:rPr lang="en-US" sz="3200" b="0" i="0" u="none" strike="noStrike" baseline="0" dirty="0">
                <a:latin typeface="URWPalladioL-Roma"/>
              </a:rPr>
              <a:t>you must constantly be prepared to adapt to a changing business environment.</a:t>
            </a:r>
            <a:endParaRPr lang="en-PK" sz="3200" dirty="0"/>
          </a:p>
        </p:txBody>
      </p:sp>
    </p:spTree>
    <p:extLst>
      <p:ext uri="{BB962C8B-B14F-4D97-AF65-F5344CB8AC3E}">
        <p14:creationId xmlns:p14="http://schemas.microsoft.com/office/powerpoint/2010/main" val="155944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36838-0632-4DBF-B749-CAEC34B8418D}"/>
              </a:ext>
            </a:extLst>
          </p:cNvPr>
          <p:cNvSpPr>
            <a:spLocks noGrp="1"/>
          </p:cNvSpPr>
          <p:nvPr>
            <p:ph type="title"/>
          </p:nvPr>
        </p:nvSpPr>
        <p:spPr/>
        <p:txBody>
          <a:bodyPr/>
          <a:lstStyle/>
          <a:p>
            <a:r>
              <a:rPr lang="en-US" dirty="0"/>
              <a:t>Legacy Systems</a:t>
            </a:r>
            <a:endParaRPr lang="en-PK" dirty="0"/>
          </a:p>
        </p:txBody>
      </p:sp>
      <p:sp>
        <p:nvSpPr>
          <p:cNvPr id="3" name="Content Placeholder 2">
            <a:extLst>
              <a:ext uri="{FF2B5EF4-FFF2-40B4-BE49-F238E27FC236}">
                <a16:creationId xmlns:a16="http://schemas.microsoft.com/office/drawing/2014/main" id="{85328544-9585-415F-ABA9-AF5A72BCCFF6}"/>
              </a:ext>
            </a:extLst>
          </p:cNvPr>
          <p:cNvSpPr>
            <a:spLocks noGrp="1"/>
          </p:cNvSpPr>
          <p:nvPr>
            <p:ph idx="1"/>
          </p:nvPr>
        </p:nvSpPr>
        <p:spPr/>
        <p:txBody>
          <a:bodyPr>
            <a:normAutofit/>
          </a:bodyPr>
          <a:lstStyle/>
          <a:p>
            <a:pPr algn="l"/>
            <a:r>
              <a:rPr lang="en-US" sz="3200" b="0" i="0" u="none" strike="noStrike" baseline="0" dirty="0">
                <a:latin typeface="URWPalladioL-Roma"/>
              </a:rPr>
              <a:t>The software that you use to keep your business running must therefore also be adaptable.</a:t>
            </a:r>
          </a:p>
          <a:p>
            <a:pPr algn="l"/>
            <a:r>
              <a:rPr lang="en-US" sz="3200" dirty="0">
                <a:latin typeface="URWPalladioL-Roma"/>
              </a:rPr>
              <a:t>L</a:t>
            </a:r>
            <a:r>
              <a:rPr lang="en-US" sz="3200" b="0" i="0" u="none" strike="noStrike" baseline="0" dirty="0">
                <a:latin typeface="URWPalladioL-Roma"/>
              </a:rPr>
              <a:t>egacy system can neither be replaced nor upgraded except at a high cost.</a:t>
            </a:r>
          </a:p>
          <a:p>
            <a:pPr algn="l"/>
            <a:endParaRPr lang="en-PK" sz="3200" dirty="0"/>
          </a:p>
        </p:txBody>
      </p:sp>
    </p:spTree>
    <p:extLst>
      <p:ext uri="{BB962C8B-B14F-4D97-AF65-F5344CB8AC3E}">
        <p14:creationId xmlns:p14="http://schemas.microsoft.com/office/powerpoint/2010/main" val="399666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5122-0F3B-40EE-8832-F1AFD4DD8C51}"/>
              </a:ext>
            </a:extLst>
          </p:cNvPr>
          <p:cNvSpPr>
            <a:spLocks noGrp="1"/>
          </p:cNvSpPr>
          <p:nvPr>
            <p:ph type="title"/>
          </p:nvPr>
        </p:nvSpPr>
        <p:spPr/>
        <p:txBody>
          <a:bodyPr/>
          <a:lstStyle/>
          <a:p>
            <a:r>
              <a:rPr lang="en-US" dirty="0"/>
              <a:t>Goal of Re-Engineering</a:t>
            </a:r>
            <a:endParaRPr lang="en-PK" dirty="0"/>
          </a:p>
        </p:txBody>
      </p:sp>
      <p:sp>
        <p:nvSpPr>
          <p:cNvPr id="3" name="Content Placeholder 2">
            <a:extLst>
              <a:ext uri="{FF2B5EF4-FFF2-40B4-BE49-F238E27FC236}">
                <a16:creationId xmlns:a16="http://schemas.microsoft.com/office/drawing/2014/main" id="{4B175E05-0C04-4202-BD62-B45C642BAB96}"/>
              </a:ext>
            </a:extLst>
          </p:cNvPr>
          <p:cNvSpPr>
            <a:spLocks noGrp="1"/>
          </p:cNvSpPr>
          <p:nvPr>
            <p:ph idx="1"/>
          </p:nvPr>
        </p:nvSpPr>
        <p:spPr/>
        <p:txBody>
          <a:bodyPr>
            <a:normAutofit/>
          </a:bodyPr>
          <a:lstStyle/>
          <a:p>
            <a:pPr algn="l"/>
            <a:r>
              <a:rPr lang="en-US" sz="3200" b="0" i="0" u="none" strike="noStrike" baseline="0" dirty="0">
                <a:latin typeface="URWPalladioL-Roma"/>
              </a:rPr>
              <a:t>The goal of reengineering is to reduce the complexity of a legacy system sufficiently that it can continue to be used and adapted at an acceptable cost.</a:t>
            </a:r>
            <a:endParaRPr lang="en-PK" sz="3200" dirty="0"/>
          </a:p>
        </p:txBody>
      </p:sp>
    </p:spTree>
    <p:extLst>
      <p:ext uri="{BB962C8B-B14F-4D97-AF65-F5344CB8AC3E}">
        <p14:creationId xmlns:p14="http://schemas.microsoft.com/office/powerpoint/2010/main" val="405566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1401-09AF-44CB-88B9-1D6B1FF50F13}"/>
              </a:ext>
            </a:extLst>
          </p:cNvPr>
          <p:cNvSpPr>
            <a:spLocks noGrp="1"/>
          </p:cNvSpPr>
          <p:nvPr>
            <p:ph type="title"/>
          </p:nvPr>
        </p:nvSpPr>
        <p:spPr/>
        <p:txBody>
          <a:bodyPr/>
          <a:lstStyle/>
          <a:p>
            <a:r>
              <a:rPr lang="en-US" dirty="0"/>
              <a:t>Reasons of Re-Engineering</a:t>
            </a:r>
            <a:endParaRPr lang="en-PK" dirty="0"/>
          </a:p>
        </p:txBody>
      </p:sp>
      <p:sp>
        <p:nvSpPr>
          <p:cNvPr id="3" name="Content Placeholder 2">
            <a:extLst>
              <a:ext uri="{FF2B5EF4-FFF2-40B4-BE49-F238E27FC236}">
                <a16:creationId xmlns:a16="http://schemas.microsoft.com/office/drawing/2014/main" id="{1ADE76B3-44BF-4E7A-B4C3-B5B29F590A52}"/>
              </a:ext>
            </a:extLst>
          </p:cNvPr>
          <p:cNvSpPr>
            <a:spLocks noGrp="1"/>
          </p:cNvSpPr>
          <p:nvPr>
            <p:ph idx="1"/>
          </p:nvPr>
        </p:nvSpPr>
        <p:spPr/>
        <p:txBody>
          <a:bodyPr>
            <a:normAutofit/>
          </a:bodyPr>
          <a:lstStyle/>
          <a:p>
            <a:pPr algn="l"/>
            <a:r>
              <a:rPr lang="en-US" sz="2400" b="0" i="0" u="none" strike="noStrike" baseline="0" dirty="0">
                <a:latin typeface="URWPalladioL-Roma"/>
              </a:rPr>
              <a:t>You might want to </a:t>
            </a:r>
            <a:r>
              <a:rPr lang="en-US" sz="2400" b="0" i="0" u="none" strike="noStrike" baseline="0" dirty="0">
                <a:latin typeface="URWPalladioL-Ital"/>
              </a:rPr>
              <a:t>unbundle </a:t>
            </a:r>
            <a:r>
              <a:rPr lang="en-US" sz="2400" b="0" i="0" u="none" strike="noStrike" baseline="0" dirty="0">
                <a:latin typeface="URWPalladioL-Roma"/>
              </a:rPr>
              <a:t>a monolithic system so that the individual parts can be more easily marketed separately or combined in different ways.</a:t>
            </a:r>
          </a:p>
          <a:p>
            <a:pPr algn="l"/>
            <a:r>
              <a:rPr lang="en-US" sz="2400" b="0" i="0" u="none" strike="noStrike" baseline="0" dirty="0">
                <a:latin typeface="URWPalladioL-Roma"/>
              </a:rPr>
              <a:t>You might want to improve </a:t>
            </a:r>
            <a:r>
              <a:rPr lang="en-US" sz="2400" b="0" i="0" u="none" strike="noStrike" baseline="0" dirty="0">
                <a:latin typeface="URWPalladioL-Ital"/>
              </a:rPr>
              <a:t>performance</a:t>
            </a:r>
            <a:r>
              <a:rPr lang="en-US" sz="2400" b="0" i="0" u="none" strike="noStrike" baseline="0" dirty="0">
                <a:latin typeface="URWPalladioL-Roma"/>
              </a:rPr>
              <a:t>.</a:t>
            </a:r>
            <a:endParaRPr lang="en-US" sz="2400" dirty="0">
              <a:latin typeface="URWPalladioL-Roma"/>
            </a:endParaRPr>
          </a:p>
          <a:p>
            <a:pPr algn="l"/>
            <a:r>
              <a:rPr lang="en-US" sz="2400" b="0" i="0" u="none" strike="noStrike" baseline="0" dirty="0">
                <a:latin typeface="URWPalladioL-Roma"/>
              </a:rPr>
              <a:t>You might want to </a:t>
            </a:r>
            <a:r>
              <a:rPr lang="en-US" sz="2400" b="0" i="0" u="none" strike="noStrike" baseline="0" dirty="0">
                <a:latin typeface="URWPalladioL-Ital"/>
              </a:rPr>
              <a:t>port the system to a new platform</a:t>
            </a:r>
            <a:r>
              <a:rPr lang="en-US" sz="2400" b="0" i="0" u="none" strike="noStrike" baseline="0" dirty="0">
                <a:latin typeface="URWPalladioL-Roma"/>
              </a:rPr>
              <a:t>.</a:t>
            </a:r>
          </a:p>
          <a:p>
            <a:pPr algn="l"/>
            <a:r>
              <a:rPr lang="en-US" sz="2400" b="0" i="0" u="none" strike="noStrike" baseline="0" dirty="0">
                <a:latin typeface="URWPalladioL-Roma"/>
              </a:rPr>
              <a:t>You might want to </a:t>
            </a:r>
            <a:r>
              <a:rPr lang="en-US" sz="2400" b="0" i="0" u="none" strike="noStrike" baseline="0" dirty="0">
                <a:latin typeface="URWPalladioL-Ital"/>
              </a:rPr>
              <a:t>extract the design </a:t>
            </a:r>
            <a:r>
              <a:rPr lang="en-US" sz="2400" b="0" i="0" u="none" strike="noStrike" baseline="0" dirty="0">
                <a:latin typeface="URWPalladioL-Roma"/>
              </a:rPr>
              <a:t>as a first step to a new implementation.</a:t>
            </a:r>
            <a:endParaRPr lang="en-US" sz="2400" dirty="0">
              <a:latin typeface="URWPalladioL-Roma"/>
            </a:endParaRPr>
          </a:p>
          <a:p>
            <a:pPr algn="l"/>
            <a:r>
              <a:rPr lang="en-US" sz="2400" b="0" i="0" u="none" strike="noStrike" baseline="0" dirty="0">
                <a:latin typeface="URWPalladioL-Roma"/>
              </a:rPr>
              <a:t>You might want to </a:t>
            </a:r>
            <a:r>
              <a:rPr lang="en-US" sz="2400" b="0" i="0" u="none" strike="noStrike" baseline="0" dirty="0">
                <a:latin typeface="URWPalladioL-Ital"/>
              </a:rPr>
              <a:t>exploit new technology</a:t>
            </a:r>
            <a:r>
              <a:rPr lang="en-US" sz="2400" b="0" i="0" u="none" strike="noStrike" baseline="0" dirty="0">
                <a:latin typeface="URWPalladioL-Roma"/>
              </a:rPr>
              <a:t>, such as emerging standards or libraries, as a step towards cutting maintenance costs.</a:t>
            </a:r>
          </a:p>
          <a:p>
            <a:pPr algn="l"/>
            <a:r>
              <a:rPr lang="en-US" sz="2400" b="0" i="0" u="none" strike="noStrike" baseline="0" dirty="0">
                <a:latin typeface="URWPalladioL-Roma"/>
              </a:rPr>
              <a:t>You might want to </a:t>
            </a:r>
            <a:r>
              <a:rPr lang="en-US" sz="2400" b="0" i="0" u="none" strike="noStrike" baseline="0" dirty="0">
                <a:latin typeface="URWPalladioL-Ital"/>
              </a:rPr>
              <a:t>reduce human dependencies </a:t>
            </a:r>
            <a:r>
              <a:rPr lang="en-US" sz="2400" b="0" i="0" u="none" strike="noStrike" baseline="0" dirty="0">
                <a:latin typeface="URWPalladioL-Roma"/>
              </a:rPr>
              <a:t>by documenting knowledge about the system and making it easier to maintain.</a:t>
            </a:r>
            <a:endParaRPr lang="en-PK" sz="2400" dirty="0"/>
          </a:p>
        </p:txBody>
      </p:sp>
    </p:spTree>
    <p:extLst>
      <p:ext uri="{BB962C8B-B14F-4D97-AF65-F5344CB8AC3E}">
        <p14:creationId xmlns:p14="http://schemas.microsoft.com/office/powerpoint/2010/main" val="300947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3AF0-5BC4-4C1E-8DBB-EC776B10EC5D}"/>
              </a:ext>
            </a:extLst>
          </p:cNvPr>
          <p:cNvSpPr>
            <a:spLocks noGrp="1"/>
          </p:cNvSpPr>
          <p:nvPr>
            <p:ph type="title"/>
          </p:nvPr>
        </p:nvSpPr>
        <p:spPr/>
        <p:txBody>
          <a:bodyPr/>
          <a:lstStyle/>
          <a:p>
            <a:r>
              <a:rPr lang="en-US" dirty="0"/>
              <a:t>Re-Engineering Life Cycle</a:t>
            </a:r>
            <a:endParaRPr lang="en-PK" dirty="0"/>
          </a:p>
        </p:txBody>
      </p:sp>
      <p:sp>
        <p:nvSpPr>
          <p:cNvPr id="3" name="Content Placeholder 2">
            <a:extLst>
              <a:ext uri="{FF2B5EF4-FFF2-40B4-BE49-F238E27FC236}">
                <a16:creationId xmlns:a16="http://schemas.microsoft.com/office/drawing/2014/main" id="{944044F1-F72A-4F60-9057-491EE668166B}"/>
              </a:ext>
            </a:extLst>
          </p:cNvPr>
          <p:cNvSpPr>
            <a:spLocks noGrp="1"/>
          </p:cNvSpPr>
          <p:nvPr>
            <p:ph idx="1"/>
          </p:nvPr>
        </p:nvSpPr>
        <p:spPr/>
        <p:txBody>
          <a:bodyPr>
            <a:normAutofit/>
          </a:bodyPr>
          <a:lstStyle/>
          <a:p>
            <a:pPr algn="l"/>
            <a:r>
              <a:rPr lang="en-US" sz="3600" b="0" i="0" u="none" strike="noStrike" baseline="0" dirty="0">
                <a:latin typeface="URWPalladioL-Roma"/>
              </a:rPr>
              <a:t>“</a:t>
            </a:r>
            <a:r>
              <a:rPr lang="en-US" sz="3600" b="0" i="0" u="none" strike="noStrike" baseline="0" dirty="0">
                <a:latin typeface="URWPalladioL-Ital"/>
              </a:rPr>
              <a:t>Reengineering </a:t>
            </a:r>
            <a:r>
              <a:rPr lang="en-US" sz="3600" b="0" i="0" u="none" strike="noStrike" baseline="0" dirty="0">
                <a:latin typeface="URWPalladioL-Roma"/>
              </a:rPr>
              <a:t>... is the examination and </a:t>
            </a:r>
            <a:r>
              <a:rPr lang="en-US" sz="3600" b="0" i="0" u="none" strike="noStrike" baseline="0" dirty="0">
                <a:latin typeface="URWPalladioL-Ital"/>
              </a:rPr>
              <a:t>alteration of a subject system </a:t>
            </a:r>
            <a:r>
              <a:rPr lang="en-US" sz="3600" b="0" i="0" u="none" strike="noStrike" baseline="0" dirty="0">
                <a:latin typeface="URWPalladioL-Roma"/>
              </a:rPr>
              <a:t>to reconstitute it in a new form and the subsequent implementation of the new form.”</a:t>
            </a:r>
          </a:p>
          <a:p>
            <a:pPr algn="l"/>
            <a:r>
              <a:rPr lang="en-US" sz="3200" b="0" i="0" u="none" strike="noStrike" baseline="0" dirty="0">
                <a:latin typeface="URWPalladioL-Roma"/>
              </a:rPr>
              <a:t>“</a:t>
            </a:r>
            <a:r>
              <a:rPr lang="en-US" sz="3200" b="0" i="0" u="none" strike="noStrike" baseline="0" dirty="0">
                <a:latin typeface="URWPalladioL-Ital"/>
              </a:rPr>
              <a:t>Reverse Engineering </a:t>
            </a:r>
            <a:r>
              <a:rPr lang="en-US" sz="3200" b="0" i="0" u="none" strike="noStrike" baseline="0" dirty="0">
                <a:latin typeface="URWPalladioL-Roma"/>
              </a:rPr>
              <a:t>is the process of analyzing a subject system to identify the system’s components and their interrelationships and create representations of the system in another form or at a higher level of abstraction.”</a:t>
            </a:r>
            <a:endParaRPr lang="en-PK" sz="3200" dirty="0"/>
          </a:p>
        </p:txBody>
      </p:sp>
    </p:spTree>
    <p:extLst>
      <p:ext uri="{BB962C8B-B14F-4D97-AF65-F5344CB8AC3E}">
        <p14:creationId xmlns:p14="http://schemas.microsoft.com/office/powerpoint/2010/main" val="74712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FD04F-BD62-4F21-B7D9-06DEC7967962}"/>
              </a:ext>
            </a:extLst>
          </p:cNvPr>
          <p:cNvSpPr>
            <a:spLocks noGrp="1"/>
          </p:cNvSpPr>
          <p:nvPr>
            <p:ph type="title"/>
          </p:nvPr>
        </p:nvSpPr>
        <p:spPr/>
        <p:txBody>
          <a:bodyPr/>
          <a:lstStyle/>
          <a:p>
            <a:r>
              <a:rPr lang="en-US" dirty="0"/>
              <a:t>Re-Engineering Life Cycle</a:t>
            </a:r>
            <a:endParaRPr lang="en-PK" dirty="0"/>
          </a:p>
        </p:txBody>
      </p:sp>
      <p:sp>
        <p:nvSpPr>
          <p:cNvPr id="3" name="Content Placeholder 2">
            <a:extLst>
              <a:ext uri="{FF2B5EF4-FFF2-40B4-BE49-F238E27FC236}">
                <a16:creationId xmlns:a16="http://schemas.microsoft.com/office/drawing/2014/main" id="{707E4BF1-7561-4E69-B730-FC800548FBAA}"/>
              </a:ext>
            </a:extLst>
          </p:cNvPr>
          <p:cNvSpPr>
            <a:spLocks noGrp="1"/>
          </p:cNvSpPr>
          <p:nvPr>
            <p:ph idx="1"/>
          </p:nvPr>
        </p:nvSpPr>
        <p:spPr/>
        <p:txBody>
          <a:bodyPr>
            <a:normAutofit/>
          </a:bodyPr>
          <a:lstStyle/>
          <a:p>
            <a:pPr algn="l"/>
            <a:r>
              <a:rPr lang="en-US" sz="3200" b="0" i="0" u="none" strike="noStrike" baseline="0" dirty="0">
                <a:latin typeface="URWPalladioL-Roma"/>
              </a:rPr>
              <a:t>“</a:t>
            </a:r>
            <a:r>
              <a:rPr lang="en-US" sz="3200" b="0" i="0" u="none" strike="noStrike" baseline="0" dirty="0">
                <a:latin typeface="URWPalladioL-Ital"/>
              </a:rPr>
              <a:t>Forward Engineering </a:t>
            </a:r>
            <a:r>
              <a:rPr lang="en-US" sz="3200" b="0" i="0" u="none" strike="noStrike" baseline="0" dirty="0">
                <a:latin typeface="URWPalladioL-Roma"/>
              </a:rPr>
              <a:t>is the traditional </a:t>
            </a:r>
            <a:r>
              <a:rPr lang="en-US" sz="3200" b="0" i="0" u="none" strike="noStrike" baseline="0" dirty="0">
                <a:latin typeface="URWPalladioL-Ital"/>
              </a:rPr>
              <a:t>process of moving from </a:t>
            </a:r>
            <a:r>
              <a:rPr lang="en-US" sz="3200" b="0" i="0" u="none" strike="noStrike" baseline="0" dirty="0">
                <a:latin typeface="URWPalladioL-Roma"/>
              </a:rPr>
              <a:t>high-level abstractions and logical,  implementation-independent </a:t>
            </a:r>
            <a:r>
              <a:rPr lang="en-US" sz="3200" b="0" i="0" u="none" strike="noStrike" baseline="0" dirty="0">
                <a:latin typeface="URWPalladioL-Ital"/>
              </a:rPr>
              <a:t>designs to the physical implementation </a:t>
            </a:r>
            <a:r>
              <a:rPr lang="en-US" sz="3200" b="0" i="0" u="none" strike="noStrike" baseline="0" dirty="0">
                <a:latin typeface="URWPalladioL-Roma"/>
              </a:rPr>
              <a:t>of a system.”</a:t>
            </a:r>
            <a:endParaRPr lang="en-PK" sz="3200" dirty="0"/>
          </a:p>
        </p:txBody>
      </p:sp>
    </p:spTree>
    <p:extLst>
      <p:ext uri="{BB962C8B-B14F-4D97-AF65-F5344CB8AC3E}">
        <p14:creationId xmlns:p14="http://schemas.microsoft.com/office/powerpoint/2010/main" val="3969567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B0094-A3E2-4E1D-BDE3-CB659229DBD2}"/>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338D8700-83B9-4309-9269-A65C15D85653}"/>
              </a:ext>
            </a:extLst>
          </p:cNvPr>
          <p:cNvPicPr>
            <a:picLocks noGrp="1" noChangeAspect="1"/>
          </p:cNvPicPr>
          <p:nvPr>
            <p:ph idx="1"/>
          </p:nvPr>
        </p:nvPicPr>
        <p:blipFill>
          <a:blip r:embed="rId2"/>
          <a:stretch>
            <a:fillRect/>
          </a:stretch>
        </p:blipFill>
        <p:spPr>
          <a:xfrm>
            <a:off x="1772530" y="703384"/>
            <a:ext cx="8637562" cy="5598941"/>
          </a:xfrm>
        </p:spPr>
      </p:pic>
    </p:spTree>
    <p:extLst>
      <p:ext uri="{BB962C8B-B14F-4D97-AF65-F5344CB8AC3E}">
        <p14:creationId xmlns:p14="http://schemas.microsoft.com/office/powerpoint/2010/main" val="1680081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0877" y="358071"/>
            <a:ext cx="9543570" cy="1149636"/>
          </a:xfrm>
          <a:prstGeom prst="rect">
            <a:avLst/>
          </a:prstGeom>
        </p:spPr>
        <p:txBody>
          <a:bodyPr vert="horz" wrap="square" lIns="0" tIns="467958" rIns="0" bIns="0" rtlCol="0" anchor="ctr">
            <a:spAutoFit/>
          </a:bodyPr>
          <a:lstStyle/>
          <a:p>
            <a:pPr marL="11527">
              <a:lnSpc>
                <a:spcPct val="100000"/>
              </a:lnSpc>
              <a:spcBef>
                <a:spcPts val="91"/>
              </a:spcBef>
            </a:pPr>
            <a:r>
              <a:rPr dirty="0"/>
              <a:t>Software</a:t>
            </a:r>
            <a:r>
              <a:rPr spc="-195" dirty="0"/>
              <a:t> </a:t>
            </a:r>
            <a:r>
              <a:rPr dirty="0"/>
              <a:t>Engineering</a:t>
            </a:r>
            <a:r>
              <a:rPr spc="-185" dirty="0"/>
              <a:t> </a:t>
            </a:r>
            <a:r>
              <a:rPr spc="-9" dirty="0"/>
              <a:t>challenges</a:t>
            </a:r>
          </a:p>
        </p:txBody>
      </p:sp>
      <p:sp>
        <p:nvSpPr>
          <p:cNvPr id="3" name="object 3"/>
          <p:cNvSpPr txBox="1"/>
          <p:nvPr/>
        </p:nvSpPr>
        <p:spPr>
          <a:xfrm>
            <a:off x="2064188" y="3795528"/>
            <a:ext cx="130821" cy="174651"/>
          </a:xfrm>
          <a:prstGeom prst="rect">
            <a:avLst/>
          </a:prstGeom>
        </p:spPr>
        <p:txBody>
          <a:bodyPr vert="horz" wrap="square" lIns="0" tIns="13831" rIns="0" bIns="0" rtlCol="0">
            <a:spAutoFit/>
          </a:bodyPr>
          <a:lstStyle/>
          <a:p>
            <a:pPr marL="11527">
              <a:spcBef>
                <a:spcPts val="109"/>
              </a:spcBef>
            </a:pPr>
            <a:r>
              <a:rPr sz="1044" spc="154" dirty="0">
                <a:latin typeface="Trebuchet MS"/>
                <a:cs typeface="Trebuchet MS"/>
              </a:rPr>
              <a:t>●</a:t>
            </a:r>
            <a:endParaRPr sz="1044">
              <a:latin typeface="Trebuchet MS"/>
              <a:cs typeface="Trebuchet MS"/>
            </a:endParaRPr>
          </a:p>
        </p:txBody>
      </p:sp>
      <p:sp>
        <p:nvSpPr>
          <p:cNvPr id="4" name="object 4"/>
          <p:cNvSpPr txBox="1"/>
          <p:nvPr/>
        </p:nvSpPr>
        <p:spPr>
          <a:xfrm>
            <a:off x="2358102" y="3692945"/>
            <a:ext cx="1258068" cy="374815"/>
          </a:xfrm>
          <a:prstGeom prst="rect">
            <a:avLst/>
          </a:prstGeom>
        </p:spPr>
        <p:txBody>
          <a:bodyPr vert="horz" wrap="square" lIns="0" tIns="11526" rIns="0" bIns="0" rtlCol="0">
            <a:spAutoFit/>
          </a:bodyPr>
          <a:lstStyle/>
          <a:p>
            <a:pPr marL="11527">
              <a:spcBef>
                <a:spcPts val="91"/>
              </a:spcBef>
            </a:pPr>
            <a:r>
              <a:rPr sz="2360" spc="-9" dirty="0">
                <a:latin typeface="Arial MT"/>
                <a:cs typeface="Arial MT"/>
              </a:rPr>
              <a:t>Evolution</a:t>
            </a:r>
            <a:endParaRPr sz="2360">
              <a:latin typeface="Arial MT"/>
              <a:cs typeface="Arial MT"/>
            </a:endParaRPr>
          </a:p>
        </p:txBody>
      </p:sp>
      <p:sp>
        <p:nvSpPr>
          <p:cNvPr id="5" name="object 5"/>
          <p:cNvSpPr txBox="1"/>
          <p:nvPr/>
        </p:nvSpPr>
        <p:spPr>
          <a:xfrm>
            <a:off x="2881384" y="4228907"/>
            <a:ext cx="109497" cy="1674273"/>
          </a:xfrm>
          <a:prstGeom prst="rect">
            <a:avLst/>
          </a:prstGeom>
        </p:spPr>
        <p:txBody>
          <a:bodyPr vert="horz" wrap="square" lIns="0" tIns="11526" rIns="0" bIns="0" rtlCol="0">
            <a:spAutoFit/>
          </a:bodyPr>
          <a:lstStyle/>
          <a:p>
            <a:pPr marL="11527">
              <a:spcBef>
                <a:spcPts val="91"/>
              </a:spcBef>
            </a:pPr>
            <a:r>
              <a:rPr sz="1361" spc="132" dirty="0">
                <a:latin typeface="Trebuchet MS"/>
                <a:cs typeface="Trebuchet MS"/>
              </a:rPr>
              <a:t>–</a:t>
            </a:r>
            <a:endParaRPr sz="1361">
              <a:latin typeface="Trebuchet MS"/>
              <a:cs typeface="Trebuchet MS"/>
            </a:endParaRPr>
          </a:p>
          <a:p>
            <a:pPr marL="11527">
              <a:spcBef>
                <a:spcPts val="1180"/>
              </a:spcBef>
            </a:pPr>
            <a:r>
              <a:rPr sz="1361" spc="132" dirty="0">
                <a:latin typeface="Trebuchet MS"/>
                <a:cs typeface="Trebuchet MS"/>
              </a:rPr>
              <a:t>–</a:t>
            </a:r>
            <a:endParaRPr sz="1361">
              <a:latin typeface="Trebuchet MS"/>
              <a:cs typeface="Trebuchet MS"/>
            </a:endParaRPr>
          </a:p>
          <a:p>
            <a:pPr marL="11527">
              <a:spcBef>
                <a:spcPts val="1171"/>
              </a:spcBef>
            </a:pPr>
            <a:r>
              <a:rPr sz="1361" spc="132" dirty="0">
                <a:latin typeface="Trebuchet MS"/>
                <a:cs typeface="Trebuchet MS"/>
              </a:rPr>
              <a:t>–</a:t>
            </a:r>
            <a:endParaRPr sz="1361">
              <a:latin typeface="Trebuchet MS"/>
              <a:cs typeface="Trebuchet MS"/>
            </a:endParaRPr>
          </a:p>
          <a:p>
            <a:pPr marL="11527">
              <a:spcBef>
                <a:spcPts val="1180"/>
              </a:spcBef>
            </a:pPr>
            <a:r>
              <a:rPr sz="1361" spc="132" dirty="0">
                <a:latin typeface="Trebuchet MS"/>
                <a:cs typeface="Trebuchet MS"/>
              </a:rPr>
              <a:t>–</a:t>
            </a:r>
            <a:endParaRPr sz="1361">
              <a:latin typeface="Trebuchet MS"/>
              <a:cs typeface="Trebuchet MS"/>
            </a:endParaRPr>
          </a:p>
          <a:p>
            <a:pPr marL="11527">
              <a:spcBef>
                <a:spcPts val="1171"/>
              </a:spcBef>
            </a:pPr>
            <a:r>
              <a:rPr sz="1361" spc="132" dirty="0">
                <a:latin typeface="Trebuchet MS"/>
                <a:cs typeface="Trebuchet MS"/>
              </a:rPr>
              <a:t>–</a:t>
            </a:r>
            <a:endParaRPr sz="1361">
              <a:latin typeface="Trebuchet MS"/>
              <a:cs typeface="Trebuchet MS"/>
            </a:endParaRPr>
          </a:p>
        </p:txBody>
      </p:sp>
      <p:sp>
        <p:nvSpPr>
          <p:cNvPr id="6" name="object 6"/>
          <p:cNvSpPr txBox="1"/>
          <p:nvPr/>
        </p:nvSpPr>
        <p:spPr>
          <a:xfrm>
            <a:off x="3141872" y="4117106"/>
            <a:ext cx="5492163" cy="1806617"/>
          </a:xfrm>
          <a:prstGeom prst="rect">
            <a:avLst/>
          </a:prstGeom>
        </p:spPr>
        <p:txBody>
          <a:bodyPr vert="horz" wrap="square" lIns="0" tIns="11526" rIns="0" bIns="0" rtlCol="0">
            <a:spAutoFit/>
          </a:bodyPr>
          <a:lstStyle/>
          <a:p>
            <a:pPr marL="11527" marR="1419491">
              <a:lnSpc>
                <a:spcPct val="129200"/>
              </a:lnSpc>
              <a:spcBef>
                <a:spcPts val="91"/>
              </a:spcBef>
            </a:pPr>
            <a:r>
              <a:rPr sz="1815" dirty="0">
                <a:latin typeface="Arial MT"/>
                <a:cs typeface="Arial MT"/>
              </a:rPr>
              <a:t>Continuous</a:t>
            </a:r>
            <a:r>
              <a:rPr sz="1815" spc="-73" dirty="0">
                <a:latin typeface="Arial MT"/>
                <a:cs typeface="Arial MT"/>
              </a:rPr>
              <a:t> </a:t>
            </a:r>
            <a:r>
              <a:rPr sz="1815" dirty="0">
                <a:latin typeface="Arial MT"/>
                <a:cs typeface="Arial MT"/>
              </a:rPr>
              <a:t>changing</a:t>
            </a:r>
            <a:r>
              <a:rPr sz="1815" spc="-68" dirty="0">
                <a:latin typeface="Arial MT"/>
                <a:cs typeface="Arial MT"/>
              </a:rPr>
              <a:t> </a:t>
            </a:r>
            <a:r>
              <a:rPr sz="1815" spc="-9" dirty="0">
                <a:latin typeface="Arial MT"/>
                <a:cs typeface="Arial MT"/>
              </a:rPr>
              <a:t>requirements </a:t>
            </a:r>
            <a:r>
              <a:rPr sz="1815" dirty="0">
                <a:latin typeface="Arial MT"/>
                <a:cs typeface="Arial MT"/>
              </a:rPr>
              <a:t>Improvement</a:t>
            </a:r>
            <a:r>
              <a:rPr sz="1815" spc="-50" dirty="0">
                <a:latin typeface="Arial MT"/>
                <a:cs typeface="Arial MT"/>
              </a:rPr>
              <a:t> </a:t>
            </a:r>
            <a:r>
              <a:rPr sz="1815" dirty="0">
                <a:latin typeface="Arial MT"/>
                <a:cs typeface="Arial MT"/>
              </a:rPr>
              <a:t>in</a:t>
            </a:r>
            <a:r>
              <a:rPr sz="1815" spc="-41" dirty="0">
                <a:latin typeface="Arial MT"/>
                <a:cs typeface="Arial MT"/>
              </a:rPr>
              <a:t> </a:t>
            </a:r>
            <a:r>
              <a:rPr sz="1815" dirty="0">
                <a:latin typeface="Arial MT"/>
                <a:cs typeface="Arial MT"/>
              </a:rPr>
              <a:t>architecture</a:t>
            </a:r>
            <a:r>
              <a:rPr sz="1815" spc="-36" dirty="0">
                <a:latin typeface="Arial MT"/>
                <a:cs typeface="Arial MT"/>
              </a:rPr>
              <a:t> </a:t>
            </a:r>
            <a:r>
              <a:rPr sz="1815" dirty="0">
                <a:latin typeface="Arial MT"/>
                <a:cs typeface="Arial MT"/>
              </a:rPr>
              <a:t>and</a:t>
            </a:r>
            <a:r>
              <a:rPr sz="1815" spc="-36" dirty="0">
                <a:latin typeface="Arial MT"/>
                <a:cs typeface="Arial MT"/>
              </a:rPr>
              <a:t> </a:t>
            </a:r>
            <a:r>
              <a:rPr sz="1815" spc="-9" dirty="0">
                <a:latin typeface="Arial MT"/>
                <a:cs typeface="Arial MT"/>
              </a:rPr>
              <a:t>design</a:t>
            </a:r>
            <a:endParaRPr sz="1815">
              <a:latin typeface="Arial MT"/>
              <a:cs typeface="Arial MT"/>
            </a:endParaRPr>
          </a:p>
          <a:p>
            <a:pPr marL="11527" marR="4611">
              <a:lnSpc>
                <a:spcPts val="2814"/>
              </a:lnSpc>
              <a:spcBef>
                <a:spcPts val="190"/>
              </a:spcBef>
            </a:pPr>
            <a:r>
              <a:rPr sz="1815" dirty="0">
                <a:latin typeface="Arial MT"/>
                <a:cs typeface="Arial MT"/>
              </a:rPr>
              <a:t>Change</a:t>
            </a:r>
            <a:r>
              <a:rPr sz="1815" spc="-50" dirty="0">
                <a:latin typeface="Arial MT"/>
                <a:cs typeface="Arial MT"/>
              </a:rPr>
              <a:t> </a:t>
            </a:r>
            <a:r>
              <a:rPr sz="1815" dirty="0">
                <a:latin typeface="Arial MT"/>
                <a:cs typeface="Arial MT"/>
              </a:rPr>
              <a:t>management</a:t>
            </a:r>
            <a:r>
              <a:rPr sz="1815" spc="-50" dirty="0">
                <a:latin typeface="Arial MT"/>
                <a:cs typeface="Arial MT"/>
              </a:rPr>
              <a:t> </a:t>
            </a:r>
            <a:r>
              <a:rPr sz="1815" dirty="0">
                <a:latin typeface="Arial MT"/>
                <a:cs typeface="Arial MT"/>
              </a:rPr>
              <a:t>and</a:t>
            </a:r>
            <a:r>
              <a:rPr sz="1815" spc="-50" dirty="0">
                <a:latin typeface="Arial MT"/>
                <a:cs typeface="Arial MT"/>
              </a:rPr>
              <a:t> </a:t>
            </a:r>
            <a:r>
              <a:rPr sz="1815" dirty="0">
                <a:latin typeface="Arial MT"/>
                <a:cs typeface="Arial MT"/>
              </a:rPr>
              <a:t>change</a:t>
            </a:r>
            <a:r>
              <a:rPr sz="1815" spc="-45" dirty="0">
                <a:latin typeface="Arial MT"/>
                <a:cs typeface="Arial MT"/>
              </a:rPr>
              <a:t> </a:t>
            </a:r>
            <a:r>
              <a:rPr sz="1815" dirty="0">
                <a:latin typeface="Arial MT"/>
                <a:cs typeface="Arial MT"/>
              </a:rPr>
              <a:t>control</a:t>
            </a:r>
            <a:r>
              <a:rPr sz="1815" spc="-54" dirty="0">
                <a:latin typeface="Arial MT"/>
                <a:cs typeface="Arial MT"/>
              </a:rPr>
              <a:t> </a:t>
            </a:r>
            <a:r>
              <a:rPr sz="1815" spc="-9" dirty="0">
                <a:latin typeface="Arial MT"/>
                <a:cs typeface="Arial MT"/>
              </a:rPr>
              <a:t>procedures </a:t>
            </a:r>
            <a:r>
              <a:rPr sz="1815" dirty="0">
                <a:latin typeface="Arial MT"/>
                <a:cs typeface="Arial MT"/>
              </a:rPr>
              <a:t>Cost</a:t>
            </a:r>
            <a:r>
              <a:rPr sz="1815" spc="-32" dirty="0">
                <a:latin typeface="Arial MT"/>
                <a:cs typeface="Arial MT"/>
              </a:rPr>
              <a:t> </a:t>
            </a:r>
            <a:r>
              <a:rPr sz="1815" dirty="0">
                <a:latin typeface="Arial MT"/>
                <a:cs typeface="Arial MT"/>
              </a:rPr>
              <a:t>and</a:t>
            </a:r>
            <a:r>
              <a:rPr sz="1815" spc="-14" dirty="0">
                <a:latin typeface="Arial MT"/>
                <a:cs typeface="Arial MT"/>
              </a:rPr>
              <a:t> </a:t>
            </a:r>
            <a:r>
              <a:rPr sz="1815" dirty="0">
                <a:latin typeface="Arial MT"/>
                <a:cs typeface="Arial MT"/>
              </a:rPr>
              <a:t>ROI</a:t>
            </a:r>
            <a:r>
              <a:rPr sz="1815" spc="-23" dirty="0">
                <a:latin typeface="Arial MT"/>
                <a:cs typeface="Arial MT"/>
              </a:rPr>
              <a:t> </a:t>
            </a:r>
            <a:r>
              <a:rPr sz="1815" spc="-9" dirty="0">
                <a:latin typeface="Arial MT"/>
                <a:cs typeface="Arial MT"/>
              </a:rPr>
              <a:t>considerations</a:t>
            </a:r>
            <a:endParaRPr sz="1815">
              <a:latin typeface="Arial MT"/>
              <a:cs typeface="Arial MT"/>
            </a:endParaRPr>
          </a:p>
          <a:p>
            <a:pPr marL="11527">
              <a:spcBef>
                <a:spcPts val="427"/>
              </a:spcBef>
            </a:pPr>
            <a:r>
              <a:rPr sz="1815" spc="-9" dirty="0">
                <a:latin typeface="Arial MT"/>
                <a:cs typeface="Arial MT"/>
              </a:rPr>
              <a:t>Lifespan</a:t>
            </a:r>
            <a:endParaRPr sz="1815">
              <a:latin typeface="Arial MT"/>
              <a:cs typeface="Arial MT"/>
            </a:endParaRPr>
          </a:p>
        </p:txBody>
      </p:sp>
      <p:sp>
        <p:nvSpPr>
          <p:cNvPr id="7" name="object 7"/>
          <p:cNvSpPr txBox="1"/>
          <p:nvPr/>
        </p:nvSpPr>
        <p:spPr>
          <a:xfrm>
            <a:off x="2064188" y="6559474"/>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pic>
        <p:nvPicPr>
          <p:cNvPr id="8" name="object 8"/>
          <p:cNvPicPr/>
          <p:nvPr/>
        </p:nvPicPr>
        <p:blipFill>
          <a:blip r:embed="rId2" cstate="print"/>
          <a:stretch>
            <a:fillRect/>
          </a:stretch>
        </p:blipFill>
        <p:spPr>
          <a:xfrm>
            <a:off x="4031103" y="2107285"/>
            <a:ext cx="4253416" cy="61931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0877" y="357489"/>
            <a:ext cx="9543570" cy="1150800"/>
          </a:xfrm>
          <a:prstGeom prst="rect">
            <a:avLst/>
          </a:prstGeom>
        </p:spPr>
        <p:txBody>
          <a:bodyPr vert="horz" wrap="square" lIns="0" tIns="469110" rIns="0" bIns="0" rtlCol="0" anchor="ctr">
            <a:spAutoFit/>
          </a:bodyPr>
          <a:lstStyle/>
          <a:p>
            <a:pPr marL="11527">
              <a:lnSpc>
                <a:spcPct val="100000"/>
              </a:lnSpc>
              <a:spcBef>
                <a:spcPts val="91"/>
              </a:spcBef>
            </a:pPr>
            <a:r>
              <a:rPr dirty="0"/>
              <a:t>Software</a:t>
            </a:r>
            <a:r>
              <a:rPr spc="-195" dirty="0"/>
              <a:t> </a:t>
            </a:r>
            <a:r>
              <a:rPr dirty="0"/>
              <a:t>Engineering</a:t>
            </a:r>
            <a:r>
              <a:rPr spc="-185" dirty="0"/>
              <a:t> </a:t>
            </a:r>
            <a:r>
              <a:rPr spc="-9" dirty="0"/>
              <a:t>challenges</a:t>
            </a:r>
          </a:p>
        </p:txBody>
      </p:sp>
      <p:sp>
        <p:nvSpPr>
          <p:cNvPr id="3" name="object 3"/>
          <p:cNvSpPr txBox="1"/>
          <p:nvPr/>
        </p:nvSpPr>
        <p:spPr>
          <a:xfrm>
            <a:off x="1814073" y="1720839"/>
            <a:ext cx="130821" cy="174651"/>
          </a:xfrm>
          <a:prstGeom prst="rect">
            <a:avLst/>
          </a:prstGeom>
        </p:spPr>
        <p:txBody>
          <a:bodyPr vert="horz" wrap="square" lIns="0" tIns="13831" rIns="0" bIns="0" rtlCol="0">
            <a:spAutoFit/>
          </a:bodyPr>
          <a:lstStyle/>
          <a:p>
            <a:pPr marL="11527">
              <a:spcBef>
                <a:spcPts val="109"/>
              </a:spcBef>
            </a:pPr>
            <a:r>
              <a:rPr sz="1044" spc="154" dirty="0">
                <a:latin typeface="Trebuchet MS"/>
                <a:cs typeface="Trebuchet MS"/>
              </a:rPr>
              <a:t>●</a:t>
            </a:r>
            <a:endParaRPr sz="1044">
              <a:latin typeface="Trebuchet MS"/>
              <a:cs typeface="Trebuchet MS"/>
            </a:endParaRPr>
          </a:p>
        </p:txBody>
      </p:sp>
      <p:sp>
        <p:nvSpPr>
          <p:cNvPr id="4" name="object 4"/>
          <p:cNvSpPr txBox="1"/>
          <p:nvPr/>
        </p:nvSpPr>
        <p:spPr>
          <a:xfrm>
            <a:off x="2084935" y="1429460"/>
            <a:ext cx="1789419" cy="985478"/>
          </a:xfrm>
          <a:prstGeom prst="rect">
            <a:avLst/>
          </a:prstGeom>
        </p:spPr>
        <p:txBody>
          <a:bodyPr vert="horz" wrap="square" lIns="0" tIns="199977" rIns="0" bIns="0" rtlCol="0">
            <a:spAutoFit/>
          </a:bodyPr>
          <a:lstStyle/>
          <a:p>
            <a:pPr marL="34580">
              <a:spcBef>
                <a:spcPts val="1575"/>
              </a:spcBef>
            </a:pPr>
            <a:r>
              <a:rPr sz="2360" spc="-9" dirty="0">
                <a:latin typeface="Arial MT"/>
                <a:cs typeface="Arial MT"/>
              </a:rPr>
              <a:t>Maintenance</a:t>
            </a:r>
            <a:endParaRPr sz="2360">
              <a:latin typeface="Arial MT"/>
              <a:cs typeface="Arial MT"/>
            </a:endParaRPr>
          </a:p>
          <a:p>
            <a:pPr marL="557884">
              <a:spcBef>
                <a:spcPts val="1144"/>
              </a:spcBef>
              <a:tabLst>
                <a:tab pos="817807" algn="l"/>
              </a:tabLst>
            </a:pPr>
            <a:r>
              <a:rPr sz="2042" spc="197" baseline="9259" dirty="0">
                <a:latin typeface="Trebuchet MS"/>
                <a:cs typeface="Trebuchet MS"/>
              </a:rPr>
              <a:t>–</a:t>
            </a:r>
            <a:r>
              <a:rPr sz="2042" baseline="9259" dirty="0">
                <a:latin typeface="Trebuchet MS"/>
                <a:cs typeface="Trebuchet MS"/>
              </a:rPr>
              <a:t>	</a:t>
            </a:r>
            <a:r>
              <a:rPr sz="1815" spc="-9" dirty="0">
                <a:latin typeface="Arial MT"/>
                <a:cs typeface="Arial MT"/>
              </a:rPr>
              <a:t>Types</a:t>
            </a:r>
            <a:endParaRPr sz="1815">
              <a:latin typeface="Arial MT"/>
              <a:cs typeface="Arial MT"/>
            </a:endParaRPr>
          </a:p>
        </p:txBody>
      </p:sp>
      <p:sp>
        <p:nvSpPr>
          <p:cNvPr id="5" name="object 5"/>
          <p:cNvSpPr txBox="1"/>
          <p:nvPr/>
        </p:nvSpPr>
        <p:spPr>
          <a:xfrm>
            <a:off x="3088854" y="2883818"/>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sp>
        <p:nvSpPr>
          <p:cNvPr id="6" name="object 6"/>
          <p:cNvSpPr txBox="1"/>
          <p:nvPr/>
        </p:nvSpPr>
        <p:spPr>
          <a:xfrm>
            <a:off x="3088854" y="3207699"/>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sp>
        <p:nvSpPr>
          <p:cNvPr id="7" name="object 7"/>
          <p:cNvSpPr txBox="1"/>
          <p:nvPr/>
        </p:nvSpPr>
        <p:spPr>
          <a:xfrm>
            <a:off x="3088853" y="2433150"/>
            <a:ext cx="2834256" cy="963438"/>
          </a:xfrm>
          <a:prstGeom prst="rect">
            <a:avLst/>
          </a:prstGeom>
        </p:spPr>
        <p:txBody>
          <a:bodyPr vert="horz" wrap="square" lIns="0" tIns="11526" rIns="0" bIns="0" rtlCol="0">
            <a:spAutoFit/>
          </a:bodyPr>
          <a:lstStyle/>
          <a:p>
            <a:pPr marL="207477" marR="4611" indent="-195951">
              <a:lnSpc>
                <a:spcPct val="117100"/>
              </a:lnSpc>
              <a:spcBef>
                <a:spcPts val="91"/>
              </a:spcBef>
              <a:buSzPct val="45000"/>
              <a:buFont typeface="Trebuchet MS"/>
              <a:buChar char="●"/>
              <a:tabLst>
                <a:tab pos="207477" algn="l"/>
                <a:tab pos="209205" algn="l"/>
              </a:tabLst>
            </a:pPr>
            <a:r>
              <a:rPr sz="2723" baseline="11111" dirty="0">
                <a:latin typeface="Arial MT"/>
                <a:cs typeface="Arial MT"/>
              </a:rPr>
              <a:t>	</a:t>
            </a:r>
            <a:r>
              <a:rPr sz="1815" dirty="0">
                <a:latin typeface="Arial MT"/>
                <a:cs typeface="Arial MT"/>
              </a:rPr>
              <a:t>Fault</a:t>
            </a:r>
            <a:r>
              <a:rPr sz="1815" spc="-54" dirty="0">
                <a:latin typeface="Arial MT"/>
                <a:cs typeface="Arial MT"/>
              </a:rPr>
              <a:t> </a:t>
            </a:r>
            <a:r>
              <a:rPr sz="1815" spc="-9" dirty="0">
                <a:latin typeface="Arial MT"/>
                <a:cs typeface="Arial MT"/>
              </a:rPr>
              <a:t>repairs </a:t>
            </a:r>
            <a:r>
              <a:rPr sz="1815" dirty="0">
                <a:latin typeface="Arial MT"/>
                <a:cs typeface="Arial MT"/>
              </a:rPr>
              <a:t>Environmental</a:t>
            </a:r>
            <a:r>
              <a:rPr sz="1815" spc="-109" dirty="0">
                <a:latin typeface="Arial MT"/>
                <a:cs typeface="Arial MT"/>
              </a:rPr>
              <a:t> </a:t>
            </a:r>
            <a:r>
              <a:rPr sz="1815" spc="-9" dirty="0">
                <a:latin typeface="Arial MT"/>
                <a:cs typeface="Arial MT"/>
              </a:rPr>
              <a:t>adaptation </a:t>
            </a:r>
            <a:r>
              <a:rPr sz="1815" dirty="0">
                <a:latin typeface="Arial MT"/>
                <a:cs typeface="Arial MT"/>
              </a:rPr>
              <a:t>Functionality</a:t>
            </a:r>
            <a:r>
              <a:rPr sz="1815" spc="-113" dirty="0">
                <a:latin typeface="Arial MT"/>
                <a:cs typeface="Arial MT"/>
              </a:rPr>
              <a:t> </a:t>
            </a:r>
            <a:r>
              <a:rPr sz="1815" spc="-9" dirty="0">
                <a:latin typeface="Arial MT"/>
                <a:cs typeface="Arial MT"/>
              </a:rPr>
              <a:t>addition</a:t>
            </a:r>
            <a:endParaRPr sz="1815">
              <a:latin typeface="Arial MT"/>
              <a:cs typeface="Arial MT"/>
            </a:endParaRPr>
          </a:p>
        </p:txBody>
      </p:sp>
      <p:sp>
        <p:nvSpPr>
          <p:cNvPr id="8" name="object 8"/>
          <p:cNvSpPr txBox="1"/>
          <p:nvPr/>
        </p:nvSpPr>
        <p:spPr>
          <a:xfrm>
            <a:off x="2631269" y="3840480"/>
            <a:ext cx="109497" cy="221055"/>
          </a:xfrm>
          <a:prstGeom prst="rect">
            <a:avLst/>
          </a:prstGeom>
        </p:spPr>
        <p:txBody>
          <a:bodyPr vert="horz" wrap="square" lIns="0" tIns="11526" rIns="0" bIns="0" rtlCol="0">
            <a:spAutoFit/>
          </a:bodyPr>
          <a:lstStyle/>
          <a:p>
            <a:pPr marL="11527">
              <a:spcBef>
                <a:spcPts val="91"/>
              </a:spcBef>
            </a:pPr>
            <a:r>
              <a:rPr sz="1361" spc="132" dirty="0">
                <a:latin typeface="Trebuchet MS"/>
                <a:cs typeface="Trebuchet MS"/>
              </a:rPr>
              <a:t>–</a:t>
            </a:r>
            <a:endParaRPr sz="1361">
              <a:latin typeface="Trebuchet MS"/>
              <a:cs typeface="Trebuchet MS"/>
            </a:endParaRPr>
          </a:p>
        </p:txBody>
      </p:sp>
      <p:sp>
        <p:nvSpPr>
          <p:cNvPr id="9" name="object 9"/>
          <p:cNvSpPr txBox="1"/>
          <p:nvPr/>
        </p:nvSpPr>
        <p:spPr>
          <a:xfrm>
            <a:off x="2891758" y="3809360"/>
            <a:ext cx="2733403" cy="290946"/>
          </a:xfrm>
          <a:prstGeom prst="rect">
            <a:avLst/>
          </a:prstGeom>
        </p:spPr>
        <p:txBody>
          <a:bodyPr vert="horz" wrap="square" lIns="0" tIns="11526" rIns="0" bIns="0" rtlCol="0">
            <a:spAutoFit/>
          </a:bodyPr>
          <a:lstStyle/>
          <a:p>
            <a:pPr marL="11527">
              <a:spcBef>
                <a:spcPts val="91"/>
              </a:spcBef>
            </a:pPr>
            <a:r>
              <a:rPr sz="1815" dirty="0">
                <a:latin typeface="Arial MT"/>
                <a:cs typeface="Arial MT"/>
              </a:rPr>
              <a:t>Considerations</a:t>
            </a:r>
            <a:r>
              <a:rPr sz="1815" spc="-64" dirty="0">
                <a:latin typeface="Arial MT"/>
                <a:cs typeface="Arial MT"/>
              </a:rPr>
              <a:t> </a:t>
            </a:r>
            <a:r>
              <a:rPr sz="1815" dirty="0">
                <a:latin typeface="Arial MT"/>
                <a:cs typeface="Arial MT"/>
              </a:rPr>
              <a:t>and</a:t>
            </a:r>
            <a:r>
              <a:rPr sz="1815" spc="-59" dirty="0">
                <a:latin typeface="Arial MT"/>
                <a:cs typeface="Arial MT"/>
              </a:rPr>
              <a:t> </a:t>
            </a:r>
            <a:r>
              <a:rPr sz="1815" spc="-9" dirty="0">
                <a:latin typeface="Arial MT"/>
                <a:cs typeface="Arial MT"/>
              </a:rPr>
              <a:t>issues</a:t>
            </a:r>
            <a:endParaRPr sz="1815">
              <a:latin typeface="Arial MT"/>
              <a:cs typeface="Arial MT"/>
            </a:endParaRPr>
          </a:p>
        </p:txBody>
      </p:sp>
      <p:sp>
        <p:nvSpPr>
          <p:cNvPr id="10" name="object 10"/>
          <p:cNvSpPr txBox="1"/>
          <p:nvPr/>
        </p:nvSpPr>
        <p:spPr>
          <a:xfrm>
            <a:off x="3088854" y="4570079"/>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sp>
        <p:nvSpPr>
          <p:cNvPr id="11" name="object 11"/>
          <p:cNvSpPr txBox="1"/>
          <p:nvPr/>
        </p:nvSpPr>
        <p:spPr>
          <a:xfrm>
            <a:off x="3088854" y="4893961"/>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sp>
        <p:nvSpPr>
          <p:cNvPr id="12" name="object 12"/>
          <p:cNvSpPr txBox="1"/>
          <p:nvPr/>
        </p:nvSpPr>
        <p:spPr>
          <a:xfrm>
            <a:off x="3088854" y="5217843"/>
            <a:ext cx="106039" cy="137379"/>
          </a:xfrm>
          <a:prstGeom prst="rect">
            <a:avLst/>
          </a:prstGeom>
        </p:spPr>
        <p:txBody>
          <a:bodyPr vert="horz" wrap="square" lIns="0" tIns="11526" rIns="0" bIns="0" rtlCol="0">
            <a:spAutoFit/>
          </a:bodyPr>
          <a:lstStyle/>
          <a:p>
            <a:pPr marL="11527">
              <a:spcBef>
                <a:spcPts val="91"/>
              </a:spcBef>
            </a:pPr>
            <a:r>
              <a:rPr sz="817" spc="113" dirty="0">
                <a:latin typeface="Trebuchet MS"/>
                <a:cs typeface="Trebuchet MS"/>
              </a:rPr>
              <a:t>●</a:t>
            </a:r>
            <a:endParaRPr sz="817">
              <a:latin typeface="Trebuchet MS"/>
              <a:cs typeface="Trebuchet MS"/>
            </a:endParaRPr>
          </a:p>
        </p:txBody>
      </p:sp>
      <p:sp>
        <p:nvSpPr>
          <p:cNvPr id="13" name="object 13"/>
          <p:cNvSpPr txBox="1"/>
          <p:nvPr/>
        </p:nvSpPr>
        <p:spPr>
          <a:xfrm>
            <a:off x="3088854" y="4119409"/>
            <a:ext cx="2965076" cy="1322767"/>
          </a:xfrm>
          <a:prstGeom prst="rect">
            <a:avLst/>
          </a:prstGeom>
        </p:spPr>
        <p:txBody>
          <a:bodyPr vert="horz" wrap="square" lIns="0" tIns="11526" rIns="0" bIns="0" rtlCol="0">
            <a:spAutoFit/>
          </a:bodyPr>
          <a:lstStyle/>
          <a:p>
            <a:pPr marL="207477" marR="402852" indent="-195951">
              <a:lnSpc>
                <a:spcPct val="117100"/>
              </a:lnSpc>
              <a:spcBef>
                <a:spcPts val="91"/>
              </a:spcBef>
              <a:buSzPct val="45000"/>
              <a:buFont typeface="Trebuchet MS"/>
              <a:buChar char="●"/>
              <a:tabLst>
                <a:tab pos="207477" algn="l"/>
                <a:tab pos="209205" algn="l"/>
              </a:tabLst>
            </a:pPr>
            <a:r>
              <a:rPr sz="2723" baseline="11111" dirty="0">
                <a:latin typeface="Arial MT"/>
                <a:cs typeface="Arial MT"/>
              </a:rPr>
              <a:t>	</a:t>
            </a:r>
            <a:r>
              <a:rPr sz="1815" spc="-45" dirty="0">
                <a:latin typeface="Arial MT"/>
                <a:cs typeface="Arial MT"/>
              </a:rPr>
              <a:t>Team</a:t>
            </a:r>
            <a:r>
              <a:rPr sz="1815" spc="-68" dirty="0">
                <a:latin typeface="Arial MT"/>
                <a:cs typeface="Arial MT"/>
              </a:rPr>
              <a:t> </a:t>
            </a:r>
            <a:r>
              <a:rPr sz="1815" spc="-9" dirty="0">
                <a:latin typeface="Arial MT"/>
                <a:cs typeface="Arial MT"/>
              </a:rPr>
              <a:t>stability </a:t>
            </a:r>
            <a:r>
              <a:rPr sz="1815" dirty="0">
                <a:latin typeface="Arial MT"/>
                <a:cs typeface="Arial MT"/>
              </a:rPr>
              <a:t>Development</a:t>
            </a:r>
            <a:r>
              <a:rPr sz="1815" spc="-100" dirty="0">
                <a:latin typeface="Arial MT"/>
                <a:cs typeface="Arial MT"/>
              </a:rPr>
              <a:t> </a:t>
            </a:r>
            <a:r>
              <a:rPr sz="1815" spc="-9" dirty="0">
                <a:latin typeface="Arial MT"/>
                <a:cs typeface="Arial MT"/>
              </a:rPr>
              <a:t>practices </a:t>
            </a:r>
            <a:r>
              <a:rPr sz="1815" dirty="0">
                <a:latin typeface="Arial MT"/>
                <a:cs typeface="Arial MT"/>
              </a:rPr>
              <a:t>Staff</a:t>
            </a:r>
            <a:r>
              <a:rPr sz="1815" spc="-68" dirty="0">
                <a:latin typeface="Arial MT"/>
                <a:cs typeface="Arial MT"/>
              </a:rPr>
              <a:t> </a:t>
            </a:r>
            <a:r>
              <a:rPr sz="1815" spc="-9" dirty="0">
                <a:latin typeface="Arial MT"/>
                <a:cs typeface="Arial MT"/>
              </a:rPr>
              <a:t>skills</a:t>
            </a:r>
            <a:endParaRPr sz="1815">
              <a:latin typeface="Arial MT"/>
              <a:cs typeface="Arial MT"/>
            </a:endParaRPr>
          </a:p>
          <a:p>
            <a:pPr marL="207477">
              <a:spcBef>
                <a:spcPts val="371"/>
              </a:spcBef>
            </a:pPr>
            <a:r>
              <a:rPr sz="1815" dirty="0">
                <a:latin typeface="Arial MT"/>
                <a:cs typeface="Arial MT"/>
              </a:rPr>
              <a:t>Program</a:t>
            </a:r>
            <a:r>
              <a:rPr sz="1815" spc="-41" dirty="0">
                <a:latin typeface="Arial MT"/>
                <a:cs typeface="Arial MT"/>
              </a:rPr>
              <a:t> </a:t>
            </a:r>
            <a:r>
              <a:rPr sz="1815" dirty="0">
                <a:latin typeface="Arial MT"/>
                <a:cs typeface="Arial MT"/>
              </a:rPr>
              <a:t>age</a:t>
            </a:r>
            <a:r>
              <a:rPr sz="1815" spc="-36" dirty="0">
                <a:latin typeface="Arial MT"/>
                <a:cs typeface="Arial MT"/>
              </a:rPr>
              <a:t> </a:t>
            </a:r>
            <a:r>
              <a:rPr sz="1815" dirty="0">
                <a:latin typeface="Arial MT"/>
                <a:cs typeface="Arial MT"/>
              </a:rPr>
              <a:t>and</a:t>
            </a:r>
            <a:r>
              <a:rPr sz="1815" spc="-32" dirty="0">
                <a:latin typeface="Arial MT"/>
                <a:cs typeface="Arial MT"/>
              </a:rPr>
              <a:t> </a:t>
            </a:r>
            <a:r>
              <a:rPr sz="1815" spc="-9" dirty="0">
                <a:latin typeface="Arial MT"/>
                <a:cs typeface="Arial MT"/>
              </a:rPr>
              <a:t>structure</a:t>
            </a:r>
            <a:endParaRPr sz="1815">
              <a:latin typeface="Arial MT"/>
              <a:cs typeface="Arial MT"/>
            </a:endParaRPr>
          </a:p>
        </p:txBody>
      </p:sp>
      <p:pic>
        <p:nvPicPr>
          <p:cNvPr id="14" name="object 14"/>
          <p:cNvPicPr/>
          <p:nvPr/>
        </p:nvPicPr>
        <p:blipFill>
          <a:blip r:embed="rId2" cstate="print"/>
          <a:stretch>
            <a:fillRect/>
          </a:stretch>
        </p:blipFill>
        <p:spPr>
          <a:xfrm>
            <a:off x="7631473" y="1434989"/>
            <a:ext cx="2156971" cy="2143972"/>
          </a:xfrm>
          <a:prstGeom prst="rect">
            <a:avLst/>
          </a:prstGeom>
        </p:spPr>
      </p:pic>
      <p:pic>
        <p:nvPicPr>
          <p:cNvPr id="15" name="object 15"/>
          <p:cNvPicPr/>
          <p:nvPr/>
        </p:nvPicPr>
        <p:blipFill>
          <a:blip r:embed="rId3" cstate="print"/>
          <a:stretch>
            <a:fillRect/>
          </a:stretch>
        </p:blipFill>
        <p:spPr>
          <a:xfrm>
            <a:off x="6631579" y="4080833"/>
            <a:ext cx="3616470" cy="14627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0877" y="358071"/>
            <a:ext cx="9543570" cy="1149636"/>
          </a:xfrm>
          <a:prstGeom prst="rect">
            <a:avLst/>
          </a:prstGeom>
        </p:spPr>
        <p:txBody>
          <a:bodyPr vert="horz" wrap="square" lIns="0" tIns="467958" rIns="0" bIns="0" rtlCol="0" anchor="ctr">
            <a:spAutoFit/>
          </a:bodyPr>
          <a:lstStyle/>
          <a:p>
            <a:pPr marL="11527">
              <a:lnSpc>
                <a:spcPct val="100000"/>
              </a:lnSpc>
              <a:spcBef>
                <a:spcPts val="91"/>
              </a:spcBef>
            </a:pPr>
            <a:r>
              <a:rPr dirty="0"/>
              <a:t>Software</a:t>
            </a:r>
            <a:r>
              <a:rPr spc="-195" dirty="0"/>
              <a:t> </a:t>
            </a:r>
            <a:r>
              <a:rPr dirty="0"/>
              <a:t>Engineering</a:t>
            </a:r>
            <a:r>
              <a:rPr spc="-185" dirty="0"/>
              <a:t> </a:t>
            </a:r>
            <a:r>
              <a:rPr spc="-9" dirty="0"/>
              <a:t>challenges</a:t>
            </a:r>
          </a:p>
        </p:txBody>
      </p:sp>
      <p:sp>
        <p:nvSpPr>
          <p:cNvPr id="3" name="object 3"/>
          <p:cNvSpPr txBox="1"/>
          <p:nvPr/>
        </p:nvSpPr>
        <p:spPr>
          <a:xfrm>
            <a:off x="2064188" y="1683957"/>
            <a:ext cx="155025" cy="212966"/>
          </a:xfrm>
          <a:prstGeom prst="rect">
            <a:avLst/>
          </a:prstGeom>
        </p:spPr>
        <p:txBody>
          <a:bodyPr vert="horz" wrap="square" lIns="0" tIns="10373" rIns="0" bIns="0" rtlCol="0">
            <a:spAutoFit/>
          </a:bodyPr>
          <a:lstStyle/>
          <a:p>
            <a:pPr marL="11527">
              <a:spcBef>
                <a:spcPts val="82"/>
              </a:spcBef>
            </a:pPr>
            <a:r>
              <a:rPr sz="1316" spc="191" dirty="0">
                <a:latin typeface="Trebuchet MS"/>
                <a:cs typeface="Trebuchet MS"/>
              </a:rPr>
              <a:t>●</a:t>
            </a:r>
            <a:endParaRPr sz="1316">
              <a:latin typeface="Trebuchet MS"/>
              <a:cs typeface="Trebuchet MS"/>
            </a:endParaRPr>
          </a:p>
        </p:txBody>
      </p:sp>
      <p:sp>
        <p:nvSpPr>
          <p:cNvPr id="4" name="object 4"/>
          <p:cNvSpPr txBox="1"/>
          <p:nvPr/>
        </p:nvSpPr>
        <p:spPr>
          <a:xfrm>
            <a:off x="2358101" y="1559474"/>
            <a:ext cx="2667128" cy="458556"/>
          </a:xfrm>
          <a:prstGeom prst="rect">
            <a:avLst/>
          </a:prstGeom>
        </p:spPr>
        <p:txBody>
          <a:bodyPr vert="horz" wrap="square" lIns="0" tIns="11526" rIns="0" bIns="0" rtlCol="0">
            <a:spAutoFit/>
          </a:bodyPr>
          <a:lstStyle/>
          <a:p>
            <a:pPr marL="11527">
              <a:spcBef>
                <a:spcPts val="91"/>
              </a:spcBef>
            </a:pPr>
            <a:r>
              <a:rPr sz="2904" dirty="0">
                <a:latin typeface="Arial MT"/>
                <a:cs typeface="Arial MT"/>
              </a:rPr>
              <a:t>Legacy</a:t>
            </a:r>
            <a:r>
              <a:rPr sz="2904" spc="-41" dirty="0">
                <a:latin typeface="Arial MT"/>
                <a:cs typeface="Arial MT"/>
              </a:rPr>
              <a:t> </a:t>
            </a:r>
            <a:r>
              <a:rPr sz="2904" spc="-9" dirty="0">
                <a:latin typeface="Arial MT"/>
                <a:cs typeface="Arial MT"/>
              </a:rPr>
              <a:t>systems</a:t>
            </a:r>
            <a:endParaRPr sz="2904">
              <a:latin typeface="Arial MT"/>
              <a:cs typeface="Arial MT"/>
            </a:endParaRPr>
          </a:p>
        </p:txBody>
      </p:sp>
      <p:sp>
        <p:nvSpPr>
          <p:cNvPr id="5" name="object 5"/>
          <p:cNvSpPr txBox="1"/>
          <p:nvPr/>
        </p:nvSpPr>
        <p:spPr>
          <a:xfrm>
            <a:off x="2881383" y="2179577"/>
            <a:ext cx="126787" cy="1479220"/>
          </a:xfrm>
          <a:prstGeom prst="rect">
            <a:avLst/>
          </a:prstGeom>
        </p:spPr>
        <p:txBody>
          <a:bodyPr vert="horz" wrap="square" lIns="0" tIns="11526" rIns="0" bIns="0" rtlCol="0">
            <a:spAutoFit/>
          </a:bodyPr>
          <a:lstStyle/>
          <a:p>
            <a:pPr marL="11527">
              <a:spcBef>
                <a:spcPts val="91"/>
              </a:spcBef>
            </a:pPr>
            <a:r>
              <a:rPr sz="1634" spc="163" dirty="0">
                <a:latin typeface="Trebuchet MS"/>
                <a:cs typeface="Trebuchet MS"/>
              </a:rPr>
              <a:t>–</a:t>
            </a:r>
            <a:endParaRPr sz="1634">
              <a:latin typeface="Trebuchet MS"/>
              <a:cs typeface="Trebuchet MS"/>
            </a:endParaRPr>
          </a:p>
          <a:p>
            <a:pPr marL="11527">
              <a:spcBef>
                <a:spcPts val="1243"/>
              </a:spcBef>
            </a:pPr>
            <a:r>
              <a:rPr sz="1634" spc="163" dirty="0">
                <a:latin typeface="Trebuchet MS"/>
                <a:cs typeface="Trebuchet MS"/>
              </a:rPr>
              <a:t>–</a:t>
            </a:r>
            <a:endParaRPr sz="1634">
              <a:latin typeface="Trebuchet MS"/>
              <a:cs typeface="Trebuchet MS"/>
            </a:endParaRPr>
          </a:p>
          <a:p>
            <a:pPr marL="11527">
              <a:spcBef>
                <a:spcPts val="1234"/>
              </a:spcBef>
            </a:pPr>
            <a:r>
              <a:rPr sz="1634" spc="163" dirty="0">
                <a:latin typeface="Trebuchet MS"/>
                <a:cs typeface="Trebuchet MS"/>
              </a:rPr>
              <a:t>–</a:t>
            </a:r>
            <a:endParaRPr sz="1634">
              <a:latin typeface="Trebuchet MS"/>
              <a:cs typeface="Trebuchet MS"/>
            </a:endParaRPr>
          </a:p>
          <a:p>
            <a:pPr marL="11527">
              <a:spcBef>
                <a:spcPts val="1243"/>
              </a:spcBef>
            </a:pPr>
            <a:r>
              <a:rPr sz="1634" spc="163" dirty="0">
                <a:latin typeface="Trebuchet MS"/>
                <a:cs typeface="Trebuchet MS"/>
              </a:rPr>
              <a:t>–</a:t>
            </a:r>
            <a:endParaRPr sz="1634">
              <a:latin typeface="Trebuchet MS"/>
              <a:cs typeface="Trebuchet MS"/>
            </a:endParaRPr>
          </a:p>
        </p:txBody>
      </p:sp>
      <p:sp>
        <p:nvSpPr>
          <p:cNvPr id="6" name="object 6"/>
          <p:cNvSpPr txBox="1"/>
          <p:nvPr/>
        </p:nvSpPr>
        <p:spPr>
          <a:xfrm>
            <a:off x="3141873" y="2066620"/>
            <a:ext cx="5690987" cy="1610463"/>
          </a:xfrm>
          <a:prstGeom prst="rect">
            <a:avLst/>
          </a:prstGeom>
        </p:spPr>
        <p:txBody>
          <a:bodyPr vert="horz" wrap="square" lIns="0" tIns="86445" rIns="0" bIns="0" rtlCol="0">
            <a:spAutoFit/>
          </a:bodyPr>
          <a:lstStyle/>
          <a:p>
            <a:pPr marL="11527" algn="just">
              <a:spcBef>
                <a:spcPts val="681"/>
              </a:spcBef>
            </a:pPr>
            <a:r>
              <a:rPr sz="2178" dirty="0">
                <a:latin typeface="Arial MT"/>
                <a:cs typeface="Arial MT"/>
              </a:rPr>
              <a:t>Operational</a:t>
            </a:r>
            <a:r>
              <a:rPr sz="2178" spc="-68" dirty="0">
                <a:latin typeface="Arial MT"/>
                <a:cs typeface="Arial MT"/>
              </a:rPr>
              <a:t> </a:t>
            </a:r>
            <a:r>
              <a:rPr sz="2178" dirty="0">
                <a:latin typeface="Arial MT"/>
                <a:cs typeface="Arial MT"/>
              </a:rPr>
              <a:t>and</a:t>
            </a:r>
            <a:r>
              <a:rPr sz="2178" spc="-68" dirty="0">
                <a:latin typeface="Arial MT"/>
                <a:cs typeface="Arial MT"/>
              </a:rPr>
              <a:t> </a:t>
            </a:r>
            <a:r>
              <a:rPr sz="2178" dirty="0">
                <a:latin typeface="Arial MT"/>
                <a:cs typeface="Arial MT"/>
              </a:rPr>
              <a:t>stable</a:t>
            </a:r>
            <a:r>
              <a:rPr sz="2178" spc="-64" dirty="0">
                <a:latin typeface="Arial MT"/>
                <a:cs typeface="Arial MT"/>
              </a:rPr>
              <a:t> </a:t>
            </a:r>
            <a:r>
              <a:rPr sz="2178" dirty="0">
                <a:latin typeface="Arial MT"/>
                <a:cs typeface="Arial MT"/>
              </a:rPr>
              <a:t>/</a:t>
            </a:r>
            <a:r>
              <a:rPr sz="2178" spc="-59" dirty="0">
                <a:latin typeface="Arial MT"/>
                <a:cs typeface="Arial MT"/>
              </a:rPr>
              <a:t> </a:t>
            </a:r>
            <a:r>
              <a:rPr sz="2178" spc="-9" dirty="0">
                <a:latin typeface="Arial MT"/>
                <a:cs typeface="Arial MT"/>
              </a:rPr>
              <a:t>reliable</a:t>
            </a:r>
            <a:endParaRPr sz="2178">
              <a:latin typeface="Arial MT"/>
              <a:cs typeface="Arial MT"/>
            </a:endParaRPr>
          </a:p>
          <a:p>
            <a:pPr marL="11527" marR="4611" algn="just">
              <a:lnSpc>
                <a:spcPct val="122400"/>
              </a:lnSpc>
              <a:spcBef>
                <a:spcPts val="5"/>
              </a:spcBef>
            </a:pPr>
            <a:r>
              <a:rPr sz="2178" spc="-23" dirty="0">
                <a:latin typeface="Arial MT"/>
                <a:cs typeface="Arial MT"/>
              </a:rPr>
              <a:t>Large-</a:t>
            </a:r>
            <a:r>
              <a:rPr sz="2178" dirty="0">
                <a:latin typeface="Arial MT"/>
                <a:cs typeface="Arial MT"/>
              </a:rPr>
              <a:t>scale</a:t>
            </a:r>
            <a:r>
              <a:rPr sz="2178" spc="-77" dirty="0">
                <a:latin typeface="Arial MT"/>
                <a:cs typeface="Arial MT"/>
              </a:rPr>
              <a:t> </a:t>
            </a:r>
            <a:r>
              <a:rPr sz="2178" dirty="0">
                <a:latin typeface="Arial MT"/>
                <a:cs typeface="Arial MT"/>
              </a:rPr>
              <a:t>and</a:t>
            </a:r>
            <a:r>
              <a:rPr sz="2178" spc="-77" dirty="0">
                <a:latin typeface="Arial MT"/>
                <a:cs typeface="Arial MT"/>
              </a:rPr>
              <a:t> </a:t>
            </a:r>
            <a:r>
              <a:rPr sz="2178" dirty="0">
                <a:latin typeface="Arial MT"/>
                <a:cs typeface="Arial MT"/>
              </a:rPr>
              <a:t>complex</a:t>
            </a:r>
            <a:r>
              <a:rPr sz="2178" spc="-77" dirty="0">
                <a:latin typeface="Arial MT"/>
                <a:cs typeface="Arial MT"/>
              </a:rPr>
              <a:t> </a:t>
            </a:r>
            <a:r>
              <a:rPr sz="2178" dirty="0">
                <a:latin typeface="Arial MT"/>
                <a:cs typeface="Arial MT"/>
              </a:rPr>
              <a:t>business</a:t>
            </a:r>
            <a:r>
              <a:rPr sz="2178" spc="-68" dirty="0">
                <a:latin typeface="Arial MT"/>
                <a:cs typeface="Arial MT"/>
              </a:rPr>
              <a:t> </a:t>
            </a:r>
            <a:r>
              <a:rPr sz="2178" spc="-9" dirty="0">
                <a:latin typeface="Arial MT"/>
                <a:cs typeface="Arial MT"/>
              </a:rPr>
              <a:t>processes </a:t>
            </a:r>
            <a:r>
              <a:rPr sz="2178" dirty="0">
                <a:latin typeface="Arial MT"/>
                <a:cs typeface="Arial MT"/>
              </a:rPr>
              <a:t>Outdated</a:t>
            </a:r>
            <a:r>
              <a:rPr sz="2178" spc="-68" dirty="0">
                <a:latin typeface="Arial MT"/>
                <a:cs typeface="Arial MT"/>
              </a:rPr>
              <a:t> </a:t>
            </a:r>
            <a:r>
              <a:rPr sz="2178" dirty="0">
                <a:latin typeface="Arial MT"/>
                <a:cs typeface="Arial MT"/>
              </a:rPr>
              <a:t>software</a:t>
            </a:r>
            <a:r>
              <a:rPr sz="2178" spc="-68" dirty="0">
                <a:latin typeface="Arial MT"/>
                <a:cs typeface="Arial MT"/>
              </a:rPr>
              <a:t> </a:t>
            </a:r>
            <a:r>
              <a:rPr sz="2178" dirty="0">
                <a:latin typeface="Arial MT"/>
                <a:cs typeface="Arial MT"/>
              </a:rPr>
              <a:t>stack</a:t>
            </a:r>
            <a:r>
              <a:rPr sz="2178" spc="-64" dirty="0">
                <a:latin typeface="Arial MT"/>
                <a:cs typeface="Arial MT"/>
              </a:rPr>
              <a:t> </a:t>
            </a:r>
            <a:r>
              <a:rPr sz="2178" dirty="0">
                <a:latin typeface="Arial MT"/>
                <a:cs typeface="Arial MT"/>
              </a:rPr>
              <a:t>/</a:t>
            </a:r>
            <a:r>
              <a:rPr sz="2178" spc="-54" dirty="0">
                <a:latin typeface="Arial MT"/>
                <a:cs typeface="Arial MT"/>
              </a:rPr>
              <a:t> </a:t>
            </a:r>
            <a:r>
              <a:rPr sz="2178" dirty="0">
                <a:latin typeface="Arial MT"/>
                <a:cs typeface="Arial MT"/>
              </a:rPr>
              <a:t>obsolete</a:t>
            </a:r>
            <a:r>
              <a:rPr sz="2178" spc="-64" dirty="0">
                <a:latin typeface="Arial MT"/>
                <a:cs typeface="Arial MT"/>
              </a:rPr>
              <a:t> </a:t>
            </a:r>
            <a:r>
              <a:rPr sz="2178" spc="-9" dirty="0">
                <a:latin typeface="Arial MT"/>
                <a:cs typeface="Arial MT"/>
              </a:rPr>
              <a:t>technology </a:t>
            </a:r>
            <a:r>
              <a:rPr sz="2178" dirty="0">
                <a:latin typeface="Arial MT"/>
                <a:cs typeface="Arial MT"/>
              </a:rPr>
              <a:t>Prohibitively</a:t>
            </a:r>
            <a:r>
              <a:rPr sz="2178" spc="-68" dirty="0">
                <a:latin typeface="Arial MT"/>
                <a:cs typeface="Arial MT"/>
              </a:rPr>
              <a:t> </a:t>
            </a:r>
            <a:r>
              <a:rPr sz="2178" dirty="0">
                <a:latin typeface="Arial MT"/>
                <a:cs typeface="Arial MT"/>
              </a:rPr>
              <a:t>high</a:t>
            </a:r>
            <a:r>
              <a:rPr sz="2178" spc="-73" dirty="0">
                <a:latin typeface="Arial MT"/>
                <a:cs typeface="Arial MT"/>
              </a:rPr>
              <a:t> </a:t>
            </a:r>
            <a:r>
              <a:rPr sz="2178" dirty="0">
                <a:latin typeface="Arial MT"/>
                <a:cs typeface="Arial MT"/>
              </a:rPr>
              <a:t>costs</a:t>
            </a:r>
            <a:r>
              <a:rPr sz="2178" spc="-68" dirty="0">
                <a:latin typeface="Arial MT"/>
                <a:cs typeface="Arial MT"/>
              </a:rPr>
              <a:t> </a:t>
            </a:r>
            <a:r>
              <a:rPr sz="2178" dirty="0">
                <a:latin typeface="Arial MT"/>
                <a:cs typeface="Arial MT"/>
              </a:rPr>
              <a:t>(of</a:t>
            </a:r>
            <a:r>
              <a:rPr sz="2178" spc="-68" dirty="0">
                <a:latin typeface="Arial MT"/>
                <a:cs typeface="Arial MT"/>
              </a:rPr>
              <a:t> </a:t>
            </a:r>
            <a:r>
              <a:rPr sz="2178" spc="-9" dirty="0">
                <a:latin typeface="Arial MT"/>
                <a:cs typeface="Arial MT"/>
              </a:rPr>
              <a:t>replacement)</a:t>
            </a:r>
            <a:endParaRPr sz="2178">
              <a:latin typeface="Arial MT"/>
              <a:cs typeface="Arial MT"/>
            </a:endParaRPr>
          </a:p>
        </p:txBody>
      </p:sp>
      <p:sp>
        <p:nvSpPr>
          <p:cNvPr id="7" name="object 7"/>
          <p:cNvSpPr txBox="1"/>
          <p:nvPr/>
        </p:nvSpPr>
        <p:spPr>
          <a:xfrm>
            <a:off x="2064188" y="4464039"/>
            <a:ext cx="155025" cy="212966"/>
          </a:xfrm>
          <a:prstGeom prst="rect">
            <a:avLst/>
          </a:prstGeom>
        </p:spPr>
        <p:txBody>
          <a:bodyPr vert="horz" wrap="square" lIns="0" tIns="10373" rIns="0" bIns="0" rtlCol="0">
            <a:spAutoFit/>
          </a:bodyPr>
          <a:lstStyle/>
          <a:p>
            <a:pPr marL="11527">
              <a:spcBef>
                <a:spcPts val="82"/>
              </a:spcBef>
            </a:pPr>
            <a:r>
              <a:rPr sz="1316" spc="191" dirty="0">
                <a:latin typeface="Trebuchet MS"/>
                <a:cs typeface="Trebuchet MS"/>
              </a:rPr>
              <a:t>●</a:t>
            </a:r>
            <a:endParaRPr sz="1316">
              <a:latin typeface="Trebuchet MS"/>
              <a:cs typeface="Trebuchet MS"/>
            </a:endParaRPr>
          </a:p>
        </p:txBody>
      </p:sp>
      <p:sp>
        <p:nvSpPr>
          <p:cNvPr id="8" name="object 8"/>
          <p:cNvSpPr txBox="1"/>
          <p:nvPr/>
        </p:nvSpPr>
        <p:spPr>
          <a:xfrm>
            <a:off x="2358101" y="4339558"/>
            <a:ext cx="1641310" cy="458556"/>
          </a:xfrm>
          <a:prstGeom prst="rect">
            <a:avLst/>
          </a:prstGeom>
        </p:spPr>
        <p:txBody>
          <a:bodyPr vert="horz" wrap="square" lIns="0" tIns="11526" rIns="0" bIns="0" rtlCol="0">
            <a:spAutoFit/>
          </a:bodyPr>
          <a:lstStyle/>
          <a:p>
            <a:pPr marL="11527">
              <a:spcBef>
                <a:spcPts val="91"/>
              </a:spcBef>
            </a:pPr>
            <a:r>
              <a:rPr sz="2904" spc="-9" dirty="0">
                <a:latin typeface="Arial MT"/>
                <a:cs typeface="Arial MT"/>
              </a:rPr>
              <a:t>Examples</a:t>
            </a:r>
            <a:endParaRPr sz="2904">
              <a:latin typeface="Arial MT"/>
              <a:cs typeface="Arial MT"/>
            </a:endParaRPr>
          </a:p>
        </p:txBody>
      </p:sp>
      <p:sp>
        <p:nvSpPr>
          <p:cNvPr id="9" name="object 9"/>
          <p:cNvSpPr txBox="1"/>
          <p:nvPr/>
        </p:nvSpPr>
        <p:spPr>
          <a:xfrm>
            <a:off x="2881384" y="4957355"/>
            <a:ext cx="100853" cy="1518461"/>
          </a:xfrm>
          <a:prstGeom prst="rect">
            <a:avLst/>
          </a:prstGeom>
        </p:spPr>
        <p:txBody>
          <a:bodyPr vert="horz" wrap="square" lIns="0" tIns="11526" rIns="0" bIns="0" rtlCol="0">
            <a:spAutoFit/>
          </a:bodyPr>
          <a:lstStyle/>
          <a:p>
            <a:pPr marL="11527">
              <a:spcBef>
                <a:spcPts val="91"/>
              </a:spcBef>
            </a:pPr>
            <a:r>
              <a:rPr sz="1225" spc="113" dirty="0">
                <a:latin typeface="Trebuchet MS"/>
                <a:cs typeface="Trebuchet MS"/>
              </a:rPr>
              <a:t>–</a:t>
            </a:r>
            <a:endParaRPr sz="1225">
              <a:latin typeface="Trebuchet MS"/>
              <a:cs typeface="Trebuchet MS"/>
            </a:endParaRPr>
          </a:p>
          <a:p>
            <a:pPr marL="11527">
              <a:spcBef>
                <a:spcPts val="1135"/>
              </a:spcBef>
            </a:pPr>
            <a:r>
              <a:rPr sz="1225" spc="113" dirty="0">
                <a:latin typeface="Trebuchet MS"/>
                <a:cs typeface="Trebuchet MS"/>
              </a:rPr>
              <a:t>–</a:t>
            </a:r>
            <a:endParaRPr sz="1225">
              <a:latin typeface="Trebuchet MS"/>
              <a:cs typeface="Trebuchet MS"/>
            </a:endParaRPr>
          </a:p>
          <a:p>
            <a:pPr marL="11527">
              <a:spcBef>
                <a:spcPts val="1135"/>
              </a:spcBef>
            </a:pPr>
            <a:r>
              <a:rPr sz="1225" spc="113" dirty="0">
                <a:latin typeface="Trebuchet MS"/>
                <a:cs typeface="Trebuchet MS"/>
              </a:rPr>
              <a:t>–</a:t>
            </a:r>
            <a:endParaRPr sz="1225">
              <a:latin typeface="Trebuchet MS"/>
              <a:cs typeface="Trebuchet MS"/>
            </a:endParaRPr>
          </a:p>
          <a:p>
            <a:pPr marL="11527">
              <a:spcBef>
                <a:spcPts val="1135"/>
              </a:spcBef>
            </a:pPr>
            <a:r>
              <a:rPr sz="1225" spc="113" dirty="0">
                <a:latin typeface="Trebuchet MS"/>
                <a:cs typeface="Trebuchet MS"/>
              </a:rPr>
              <a:t>–</a:t>
            </a:r>
            <a:endParaRPr sz="1225">
              <a:latin typeface="Trebuchet MS"/>
              <a:cs typeface="Trebuchet MS"/>
            </a:endParaRPr>
          </a:p>
          <a:p>
            <a:pPr marL="11527">
              <a:spcBef>
                <a:spcPts val="1135"/>
              </a:spcBef>
            </a:pPr>
            <a:r>
              <a:rPr sz="1225" spc="113" dirty="0">
                <a:latin typeface="Trebuchet MS"/>
                <a:cs typeface="Trebuchet MS"/>
              </a:rPr>
              <a:t>–</a:t>
            </a:r>
            <a:endParaRPr sz="1225">
              <a:latin typeface="Trebuchet MS"/>
              <a:cs typeface="Trebuchet MS"/>
            </a:endParaRPr>
          </a:p>
        </p:txBody>
      </p:sp>
      <p:sp>
        <p:nvSpPr>
          <p:cNvPr id="10" name="object 10"/>
          <p:cNvSpPr txBox="1"/>
          <p:nvPr/>
        </p:nvSpPr>
        <p:spPr>
          <a:xfrm>
            <a:off x="3141872" y="4847857"/>
            <a:ext cx="6274782" cy="1901643"/>
          </a:xfrm>
          <a:prstGeom prst="rect">
            <a:avLst/>
          </a:prstGeom>
        </p:spPr>
        <p:txBody>
          <a:bodyPr vert="horz" wrap="square" lIns="0" tIns="11526" rIns="0" bIns="0" rtlCol="0">
            <a:spAutoFit/>
          </a:bodyPr>
          <a:lstStyle/>
          <a:p>
            <a:pPr marL="11527" marR="5026139">
              <a:lnSpc>
                <a:spcPct val="132900"/>
              </a:lnSpc>
              <a:spcBef>
                <a:spcPts val="91"/>
              </a:spcBef>
            </a:pPr>
            <a:r>
              <a:rPr sz="1634" dirty="0">
                <a:latin typeface="Arial MT"/>
                <a:cs typeface="Arial MT"/>
              </a:rPr>
              <a:t>Unix</a:t>
            </a:r>
            <a:r>
              <a:rPr sz="1634" spc="-23" dirty="0">
                <a:latin typeface="Arial MT"/>
                <a:cs typeface="Arial MT"/>
              </a:rPr>
              <a:t> </a:t>
            </a:r>
            <a:r>
              <a:rPr sz="1634" dirty="0">
                <a:latin typeface="Arial MT"/>
                <a:cs typeface="Arial MT"/>
              </a:rPr>
              <a:t>vs</a:t>
            </a:r>
            <a:r>
              <a:rPr sz="1634" spc="-5" dirty="0">
                <a:latin typeface="Arial MT"/>
                <a:cs typeface="Arial MT"/>
              </a:rPr>
              <a:t> </a:t>
            </a:r>
            <a:r>
              <a:rPr sz="1634" spc="-18" dirty="0">
                <a:latin typeface="Arial MT"/>
                <a:cs typeface="Arial MT"/>
              </a:rPr>
              <a:t>Linux </a:t>
            </a:r>
            <a:r>
              <a:rPr sz="1634" dirty="0">
                <a:latin typeface="Arial MT"/>
                <a:cs typeface="Arial MT"/>
              </a:rPr>
              <a:t>IE</a:t>
            </a:r>
            <a:r>
              <a:rPr sz="1634" spc="-14" dirty="0">
                <a:latin typeface="Arial MT"/>
                <a:cs typeface="Arial MT"/>
              </a:rPr>
              <a:t> </a:t>
            </a:r>
            <a:r>
              <a:rPr sz="1634" dirty="0">
                <a:latin typeface="Arial MT"/>
                <a:cs typeface="Arial MT"/>
              </a:rPr>
              <a:t>vs</a:t>
            </a:r>
            <a:r>
              <a:rPr sz="1634" spc="9" dirty="0">
                <a:latin typeface="Arial MT"/>
                <a:cs typeface="Arial MT"/>
              </a:rPr>
              <a:t> </a:t>
            </a:r>
            <a:r>
              <a:rPr sz="1634" spc="-18" dirty="0">
                <a:latin typeface="Arial MT"/>
                <a:cs typeface="Arial MT"/>
              </a:rPr>
              <a:t>Edge</a:t>
            </a:r>
            <a:endParaRPr sz="1634">
              <a:latin typeface="Arial MT"/>
              <a:cs typeface="Arial MT"/>
            </a:endParaRPr>
          </a:p>
          <a:p>
            <a:pPr marL="11527">
              <a:spcBef>
                <a:spcPts val="644"/>
              </a:spcBef>
            </a:pPr>
            <a:r>
              <a:rPr sz="1634" dirty="0">
                <a:latin typeface="Arial MT"/>
                <a:cs typeface="Arial MT"/>
              </a:rPr>
              <a:t>J2ME</a:t>
            </a:r>
            <a:r>
              <a:rPr sz="1634" spc="-14" dirty="0">
                <a:latin typeface="Arial MT"/>
                <a:cs typeface="Arial MT"/>
              </a:rPr>
              <a:t> </a:t>
            </a:r>
            <a:r>
              <a:rPr sz="1634" dirty="0">
                <a:latin typeface="Arial MT"/>
                <a:cs typeface="Arial MT"/>
              </a:rPr>
              <a:t>vs</a:t>
            </a:r>
            <a:r>
              <a:rPr sz="1634" spc="-86" dirty="0">
                <a:latin typeface="Arial MT"/>
                <a:cs typeface="Arial MT"/>
              </a:rPr>
              <a:t> </a:t>
            </a:r>
            <a:r>
              <a:rPr sz="1634" spc="-9" dirty="0">
                <a:latin typeface="Arial MT"/>
                <a:cs typeface="Arial MT"/>
              </a:rPr>
              <a:t>Android</a:t>
            </a:r>
            <a:endParaRPr sz="1634">
              <a:latin typeface="Arial MT"/>
              <a:cs typeface="Arial MT"/>
            </a:endParaRPr>
          </a:p>
          <a:p>
            <a:pPr marL="11527">
              <a:spcBef>
                <a:spcPts val="644"/>
              </a:spcBef>
            </a:pPr>
            <a:r>
              <a:rPr sz="1634" dirty="0">
                <a:latin typeface="Arial MT"/>
                <a:cs typeface="Arial MT"/>
              </a:rPr>
              <a:t>Applets</a:t>
            </a:r>
            <a:r>
              <a:rPr sz="1634" spc="-14" dirty="0">
                <a:latin typeface="Arial MT"/>
                <a:cs typeface="Arial MT"/>
              </a:rPr>
              <a:t> </a:t>
            </a:r>
            <a:r>
              <a:rPr sz="1634" dirty="0">
                <a:latin typeface="Arial MT"/>
                <a:cs typeface="Arial MT"/>
              </a:rPr>
              <a:t>vs</a:t>
            </a:r>
            <a:r>
              <a:rPr sz="1634" spc="-14" dirty="0">
                <a:latin typeface="Arial MT"/>
                <a:cs typeface="Arial MT"/>
              </a:rPr>
              <a:t> </a:t>
            </a:r>
            <a:r>
              <a:rPr sz="1634" dirty="0">
                <a:latin typeface="Arial MT"/>
                <a:cs typeface="Arial MT"/>
              </a:rPr>
              <a:t>Flash</a:t>
            </a:r>
            <a:r>
              <a:rPr sz="1634" spc="-23" dirty="0">
                <a:latin typeface="Arial MT"/>
                <a:cs typeface="Arial MT"/>
              </a:rPr>
              <a:t> </a:t>
            </a:r>
            <a:r>
              <a:rPr sz="1634" dirty="0">
                <a:latin typeface="Arial MT"/>
                <a:cs typeface="Arial MT"/>
              </a:rPr>
              <a:t>vs</a:t>
            </a:r>
            <a:r>
              <a:rPr sz="1634" spc="-9" dirty="0">
                <a:latin typeface="Arial MT"/>
                <a:cs typeface="Arial MT"/>
              </a:rPr>
              <a:t> </a:t>
            </a:r>
            <a:r>
              <a:rPr sz="1634" spc="-18" dirty="0">
                <a:latin typeface="Arial MT"/>
                <a:cs typeface="Arial MT"/>
              </a:rPr>
              <a:t>HTML5</a:t>
            </a:r>
            <a:endParaRPr sz="1634">
              <a:latin typeface="Arial MT"/>
              <a:cs typeface="Arial MT"/>
            </a:endParaRPr>
          </a:p>
          <a:p>
            <a:pPr marL="11527" marR="4611">
              <a:lnSpc>
                <a:spcPts val="1833"/>
              </a:lnSpc>
              <a:spcBef>
                <a:spcPts val="808"/>
              </a:spcBef>
            </a:pPr>
            <a:r>
              <a:rPr sz="1634" dirty="0">
                <a:latin typeface="Arial MT"/>
                <a:cs typeface="Arial MT"/>
              </a:rPr>
              <a:t>Numerous</a:t>
            </a:r>
            <a:r>
              <a:rPr sz="1634" spc="-41" dirty="0">
                <a:latin typeface="Arial MT"/>
                <a:cs typeface="Arial MT"/>
              </a:rPr>
              <a:t> </a:t>
            </a:r>
            <a:r>
              <a:rPr sz="1634" dirty="0">
                <a:latin typeface="Arial MT"/>
                <a:cs typeface="Arial MT"/>
              </a:rPr>
              <a:t>other</a:t>
            </a:r>
            <a:r>
              <a:rPr sz="1634" spc="-45" dirty="0">
                <a:latin typeface="Arial MT"/>
                <a:cs typeface="Arial MT"/>
              </a:rPr>
              <a:t> </a:t>
            </a:r>
            <a:r>
              <a:rPr sz="1634" dirty="0">
                <a:latin typeface="Arial MT"/>
                <a:cs typeface="Arial MT"/>
              </a:rPr>
              <a:t>applications</a:t>
            </a:r>
            <a:r>
              <a:rPr sz="1634" spc="-41" dirty="0">
                <a:latin typeface="Arial MT"/>
                <a:cs typeface="Arial MT"/>
              </a:rPr>
              <a:t> </a:t>
            </a:r>
            <a:r>
              <a:rPr sz="1634" dirty="0">
                <a:latin typeface="Arial MT"/>
                <a:cs typeface="Arial MT"/>
              </a:rPr>
              <a:t>in</a:t>
            </a:r>
            <a:r>
              <a:rPr sz="1634" spc="-45" dirty="0">
                <a:latin typeface="Arial MT"/>
                <a:cs typeface="Arial MT"/>
              </a:rPr>
              <a:t> </a:t>
            </a:r>
            <a:r>
              <a:rPr sz="1634" dirty="0">
                <a:latin typeface="Arial MT"/>
                <a:cs typeface="Arial MT"/>
              </a:rPr>
              <a:t>banking,</a:t>
            </a:r>
            <a:r>
              <a:rPr sz="1634" spc="-41" dirty="0">
                <a:latin typeface="Arial MT"/>
                <a:cs typeface="Arial MT"/>
              </a:rPr>
              <a:t> </a:t>
            </a:r>
            <a:r>
              <a:rPr sz="1634" dirty="0">
                <a:latin typeface="Arial MT"/>
                <a:cs typeface="Arial MT"/>
              </a:rPr>
              <a:t>retail,</a:t>
            </a:r>
            <a:r>
              <a:rPr sz="1634" spc="-36" dirty="0">
                <a:latin typeface="Arial MT"/>
                <a:cs typeface="Arial MT"/>
              </a:rPr>
              <a:t> </a:t>
            </a:r>
            <a:r>
              <a:rPr sz="1634" dirty="0">
                <a:latin typeface="Arial MT"/>
                <a:cs typeface="Arial MT"/>
              </a:rPr>
              <a:t>avionics,</a:t>
            </a:r>
            <a:r>
              <a:rPr sz="1634" spc="-41" dirty="0">
                <a:latin typeface="Arial MT"/>
                <a:cs typeface="Arial MT"/>
              </a:rPr>
              <a:t> </a:t>
            </a:r>
            <a:r>
              <a:rPr sz="1634" spc="-18" dirty="0">
                <a:latin typeface="Arial MT"/>
                <a:cs typeface="Arial MT"/>
              </a:rPr>
              <a:t>energy,</a:t>
            </a:r>
            <a:r>
              <a:rPr sz="1634" spc="-36" dirty="0">
                <a:latin typeface="Arial MT"/>
                <a:cs typeface="Arial MT"/>
              </a:rPr>
              <a:t> </a:t>
            </a:r>
            <a:r>
              <a:rPr sz="1634" spc="-23" dirty="0">
                <a:latin typeface="Arial MT"/>
                <a:cs typeface="Arial MT"/>
              </a:rPr>
              <a:t>and </a:t>
            </a:r>
            <a:r>
              <a:rPr sz="1634" dirty="0">
                <a:latin typeface="Arial MT"/>
                <a:cs typeface="Arial MT"/>
              </a:rPr>
              <a:t>governance</a:t>
            </a:r>
            <a:r>
              <a:rPr sz="1634" spc="-54" dirty="0">
                <a:latin typeface="Arial MT"/>
                <a:cs typeface="Arial MT"/>
              </a:rPr>
              <a:t> </a:t>
            </a:r>
            <a:r>
              <a:rPr sz="1634" spc="-9" dirty="0">
                <a:latin typeface="Arial MT"/>
                <a:cs typeface="Arial MT"/>
              </a:rPr>
              <a:t>sectors</a:t>
            </a:r>
            <a:endParaRPr sz="1634">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0877" y="358071"/>
            <a:ext cx="9543570" cy="1149636"/>
          </a:xfrm>
          <a:prstGeom prst="rect">
            <a:avLst/>
          </a:prstGeom>
        </p:spPr>
        <p:txBody>
          <a:bodyPr vert="horz" wrap="square" lIns="0" tIns="467958" rIns="0" bIns="0" rtlCol="0" anchor="ctr">
            <a:spAutoFit/>
          </a:bodyPr>
          <a:lstStyle/>
          <a:p>
            <a:pPr marL="1464444">
              <a:lnSpc>
                <a:spcPct val="100000"/>
              </a:lnSpc>
              <a:spcBef>
                <a:spcPts val="91"/>
              </a:spcBef>
            </a:pPr>
            <a:r>
              <a:rPr dirty="0"/>
              <a:t>Remedial</a:t>
            </a:r>
            <a:r>
              <a:rPr spc="-132" dirty="0"/>
              <a:t> </a:t>
            </a:r>
            <a:r>
              <a:rPr spc="-9" dirty="0"/>
              <a:t>measures</a:t>
            </a:r>
          </a:p>
        </p:txBody>
      </p:sp>
      <p:sp>
        <p:nvSpPr>
          <p:cNvPr id="3" name="object 3"/>
          <p:cNvSpPr txBox="1"/>
          <p:nvPr/>
        </p:nvSpPr>
        <p:spPr>
          <a:xfrm>
            <a:off x="2064188" y="1683957"/>
            <a:ext cx="155025" cy="212966"/>
          </a:xfrm>
          <a:prstGeom prst="rect">
            <a:avLst/>
          </a:prstGeom>
        </p:spPr>
        <p:txBody>
          <a:bodyPr vert="horz" wrap="square" lIns="0" tIns="10373" rIns="0" bIns="0" rtlCol="0">
            <a:spAutoFit/>
          </a:bodyPr>
          <a:lstStyle/>
          <a:p>
            <a:pPr marL="11527">
              <a:spcBef>
                <a:spcPts val="82"/>
              </a:spcBef>
            </a:pPr>
            <a:r>
              <a:rPr sz="1316" spc="191" dirty="0">
                <a:latin typeface="Trebuchet MS"/>
                <a:cs typeface="Trebuchet MS"/>
              </a:rPr>
              <a:t>●</a:t>
            </a:r>
            <a:endParaRPr sz="1316">
              <a:latin typeface="Trebuchet MS"/>
              <a:cs typeface="Trebuchet MS"/>
            </a:endParaRPr>
          </a:p>
        </p:txBody>
      </p:sp>
      <p:sp>
        <p:nvSpPr>
          <p:cNvPr id="4" name="object 4"/>
          <p:cNvSpPr txBox="1"/>
          <p:nvPr/>
        </p:nvSpPr>
        <p:spPr>
          <a:xfrm>
            <a:off x="2358101" y="1559474"/>
            <a:ext cx="6856271" cy="895850"/>
          </a:xfrm>
          <a:prstGeom prst="rect">
            <a:avLst/>
          </a:prstGeom>
        </p:spPr>
        <p:txBody>
          <a:bodyPr vert="horz" wrap="square" lIns="0" tIns="48986" rIns="0" bIns="0" rtlCol="0">
            <a:spAutoFit/>
          </a:bodyPr>
          <a:lstStyle/>
          <a:p>
            <a:pPr marL="11527" marR="4611">
              <a:lnSpc>
                <a:spcPts val="3258"/>
              </a:lnSpc>
              <a:spcBef>
                <a:spcPts val="386"/>
              </a:spcBef>
            </a:pPr>
            <a:r>
              <a:rPr sz="2904" dirty="0">
                <a:latin typeface="Arial MT"/>
                <a:cs typeface="Arial MT"/>
              </a:rPr>
              <a:t>Regular</a:t>
            </a:r>
            <a:r>
              <a:rPr sz="2904" spc="-50" dirty="0">
                <a:latin typeface="Arial MT"/>
                <a:cs typeface="Arial MT"/>
              </a:rPr>
              <a:t> </a:t>
            </a:r>
            <a:r>
              <a:rPr sz="2904" dirty="0">
                <a:latin typeface="Arial MT"/>
                <a:cs typeface="Arial MT"/>
              </a:rPr>
              <a:t>maintenance,</a:t>
            </a:r>
            <a:r>
              <a:rPr sz="2904" spc="-50" dirty="0">
                <a:latin typeface="Arial MT"/>
                <a:cs typeface="Arial MT"/>
              </a:rPr>
              <a:t> </a:t>
            </a:r>
            <a:r>
              <a:rPr sz="2904" dirty="0">
                <a:latin typeface="Arial MT"/>
                <a:cs typeface="Arial MT"/>
              </a:rPr>
              <a:t>relying</a:t>
            </a:r>
            <a:r>
              <a:rPr sz="2904" spc="-45" dirty="0">
                <a:latin typeface="Arial MT"/>
                <a:cs typeface="Arial MT"/>
              </a:rPr>
              <a:t> </a:t>
            </a:r>
            <a:r>
              <a:rPr sz="2904" dirty="0">
                <a:latin typeface="Arial MT"/>
                <a:cs typeface="Arial MT"/>
              </a:rPr>
              <a:t>on</a:t>
            </a:r>
            <a:r>
              <a:rPr sz="2904" spc="-41" dirty="0">
                <a:latin typeface="Arial MT"/>
                <a:cs typeface="Arial MT"/>
              </a:rPr>
              <a:t> </a:t>
            </a:r>
            <a:r>
              <a:rPr sz="2904" dirty="0">
                <a:latin typeface="Arial MT"/>
                <a:cs typeface="Arial MT"/>
              </a:rPr>
              <a:t>data</a:t>
            </a:r>
            <a:r>
              <a:rPr sz="2904" spc="-54" dirty="0">
                <a:latin typeface="Arial MT"/>
                <a:cs typeface="Arial MT"/>
              </a:rPr>
              <a:t> </a:t>
            </a:r>
            <a:r>
              <a:rPr sz="2904" spc="-23" dirty="0">
                <a:latin typeface="Arial MT"/>
                <a:cs typeface="Arial MT"/>
              </a:rPr>
              <a:t>and </a:t>
            </a:r>
            <a:r>
              <a:rPr sz="2904" dirty="0">
                <a:latin typeface="Arial MT"/>
                <a:cs typeface="Arial MT"/>
              </a:rPr>
              <a:t>considerations,</a:t>
            </a:r>
            <a:r>
              <a:rPr sz="2904" spc="-41" dirty="0">
                <a:latin typeface="Arial MT"/>
                <a:cs typeface="Arial MT"/>
              </a:rPr>
              <a:t> </a:t>
            </a:r>
            <a:r>
              <a:rPr sz="2904" dirty="0">
                <a:latin typeface="Arial MT"/>
                <a:cs typeface="Arial MT"/>
              </a:rPr>
              <a:t>such</a:t>
            </a:r>
            <a:r>
              <a:rPr sz="2904" spc="-41" dirty="0">
                <a:latin typeface="Arial MT"/>
                <a:cs typeface="Arial MT"/>
              </a:rPr>
              <a:t> </a:t>
            </a:r>
            <a:r>
              <a:rPr sz="2904" spc="-23" dirty="0">
                <a:latin typeface="Arial MT"/>
                <a:cs typeface="Arial MT"/>
              </a:rPr>
              <a:t>as:</a:t>
            </a:r>
            <a:endParaRPr sz="2904">
              <a:latin typeface="Arial MT"/>
              <a:cs typeface="Arial MT"/>
            </a:endParaRPr>
          </a:p>
        </p:txBody>
      </p:sp>
      <p:sp>
        <p:nvSpPr>
          <p:cNvPr id="5" name="object 5"/>
          <p:cNvSpPr txBox="1"/>
          <p:nvPr/>
        </p:nvSpPr>
        <p:spPr>
          <a:xfrm>
            <a:off x="2881383" y="2593361"/>
            <a:ext cx="126787" cy="1073852"/>
          </a:xfrm>
          <a:prstGeom prst="rect">
            <a:avLst/>
          </a:prstGeom>
        </p:spPr>
        <p:txBody>
          <a:bodyPr vert="horz" wrap="square" lIns="0" tIns="11526" rIns="0" bIns="0" rtlCol="0">
            <a:spAutoFit/>
          </a:bodyPr>
          <a:lstStyle/>
          <a:p>
            <a:pPr marL="11527">
              <a:spcBef>
                <a:spcPts val="91"/>
              </a:spcBef>
            </a:pPr>
            <a:r>
              <a:rPr sz="1634" spc="163" dirty="0">
                <a:latin typeface="Trebuchet MS"/>
                <a:cs typeface="Trebuchet MS"/>
              </a:rPr>
              <a:t>–</a:t>
            </a:r>
            <a:endParaRPr sz="1634">
              <a:latin typeface="Trebuchet MS"/>
              <a:cs typeface="Trebuchet MS"/>
            </a:endParaRPr>
          </a:p>
          <a:p>
            <a:pPr marL="11527">
              <a:spcBef>
                <a:spcPts val="1243"/>
              </a:spcBef>
            </a:pPr>
            <a:r>
              <a:rPr sz="1634" spc="163" dirty="0">
                <a:latin typeface="Trebuchet MS"/>
                <a:cs typeface="Trebuchet MS"/>
              </a:rPr>
              <a:t>–</a:t>
            </a:r>
            <a:endParaRPr sz="1634">
              <a:latin typeface="Trebuchet MS"/>
              <a:cs typeface="Trebuchet MS"/>
            </a:endParaRPr>
          </a:p>
          <a:p>
            <a:pPr marL="11527">
              <a:spcBef>
                <a:spcPts val="1234"/>
              </a:spcBef>
            </a:pPr>
            <a:r>
              <a:rPr sz="1634" spc="163" dirty="0">
                <a:latin typeface="Trebuchet MS"/>
                <a:cs typeface="Trebuchet MS"/>
              </a:rPr>
              <a:t>–</a:t>
            </a:r>
            <a:endParaRPr sz="1634">
              <a:latin typeface="Trebuchet MS"/>
              <a:cs typeface="Trebuchet MS"/>
            </a:endParaRPr>
          </a:p>
        </p:txBody>
      </p:sp>
      <p:sp>
        <p:nvSpPr>
          <p:cNvPr id="6" name="object 6"/>
          <p:cNvSpPr txBox="1"/>
          <p:nvPr/>
        </p:nvSpPr>
        <p:spPr>
          <a:xfrm>
            <a:off x="3141873" y="2480407"/>
            <a:ext cx="6498964" cy="1208826"/>
          </a:xfrm>
          <a:prstGeom prst="rect">
            <a:avLst/>
          </a:prstGeom>
        </p:spPr>
        <p:txBody>
          <a:bodyPr vert="horz" wrap="square" lIns="0" tIns="11526" rIns="0" bIns="0" rtlCol="0">
            <a:spAutoFit/>
          </a:bodyPr>
          <a:lstStyle/>
          <a:p>
            <a:pPr marL="11527" marR="4611">
              <a:lnSpc>
                <a:spcPct val="122600"/>
              </a:lnSpc>
              <a:spcBef>
                <a:spcPts val="91"/>
              </a:spcBef>
            </a:pPr>
            <a:r>
              <a:rPr sz="2178" dirty="0">
                <a:latin typeface="Arial MT"/>
                <a:cs typeface="Arial MT"/>
              </a:rPr>
              <a:t>Number</a:t>
            </a:r>
            <a:r>
              <a:rPr sz="2178" spc="-64" dirty="0">
                <a:latin typeface="Arial MT"/>
                <a:cs typeface="Arial MT"/>
              </a:rPr>
              <a:t> </a:t>
            </a:r>
            <a:r>
              <a:rPr sz="2178" dirty="0">
                <a:latin typeface="Arial MT"/>
                <a:cs typeface="Arial MT"/>
              </a:rPr>
              <a:t>of</a:t>
            </a:r>
            <a:r>
              <a:rPr sz="2178" spc="-68" dirty="0">
                <a:latin typeface="Arial MT"/>
                <a:cs typeface="Arial MT"/>
              </a:rPr>
              <a:t> </a:t>
            </a:r>
            <a:r>
              <a:rPr sz="2178" dirty="0">
                <a:latin typeface="Arial MT"/>
                <a:cs typeface="Arial MT"/>
              </a:rPr>
              <a:t>change</a:t>
            </a:r>
            <a:r>
              <a:rPr sz="2178" spc="-68" dirty="0">
                <a:latin typeface="Arial MT"/>
                <a:cs typeface="Arial MT"/>
              </a:rPr>
              <a:t> </a:t>
            </a:r>
            <a:r>
              <a:rPr sz="2178" dirty="0">
                <a:latin typeface="Arial MT"/>
                <a:cs typeface="Arial MT"/>
              </a:rPr>
              <a:t>requests</a:t>
            </a:r>
            <a:r>
              <a:rPr sz="2178" spc="-73" dirty="0">
                <a:latin typeface="Arial MT"/>
                <a:cs typeface="Arial MT"/>
              </a:rPr>
              <a:t> </a:t>
            </a:r>
            <a:r>
              <a:rPr sz="2178" dirty="0">
                <a:latin typeface="Arial MT"/>
                <a:cs typeface="Arial MT"/>
              </a:rPr>
              <a:t>/</a:t>
            </a:r>
            <a:r>
              <a:rPr sz="2178" spc="-59" dirty="0">
                <a:latin typeface="Arial MT"/>
                <a:cs typeface="Arial MT"/>
              </a:rPr>
              <a:t> </a:t>
            </a:r>
            <a:r>
              <a:rPr sz="2178" dirty="0">
                <a:latin typeface="Arial MT"/>
                <a:cs typeface="Arial MT"/>
              </a:rPr>
              <a:t>corrective</a:t>
            </a:r>
            <a:r>
              <a:rPr sz="2178" spc="-73" dirty="0">
                <a:latin typeface="Arial MT"/>
                <a:cs typeface="Arial MT"/>
              </a:rPr>
              <a:t> </a:t>
            </a:r>
            <a:r>
              <a:rPr sz="2178" spc="-9" dirty="0">
                <a:latin typeface="Arial MT"/>
                <a:cs typeface="Arial MT"/>
              </a:rPr>
              <a:t>actions </a:t>
            </a:r>
            <a:r>
              <a:rPr sz="2178" dirty="0">
                <a:latin typeface="Arial MT"/>
                <a:cs typeface="Arial MT"/>
              </a:rPr>
              <a:t>Average</a:t>
            </a:r>
            <a:r>
              <a:rPr sz="2178" spc="-77" dirty="0">
                <a:latin typeface="Arial MT"/>
                <a:cs typeface="Arial MT"/>
              </a:rPr>
              <a:t> </a:t>
            </a:r>
            <a:r>
              <a:rPr sz="2178" dirty="0">
                <a:latin typeface="Arial MT"/>
                <a:cs typeface="Arial MT"/>
              </a:rPr>
              <a:t>time</a:t>
            </a:r>
            <a:r>
              <a:rPr sz="2178" spc="-73" dirty="0">
                <a:latin typeface="Arial MT"/>
                <a:cs typeface="Arial MT"/>
              </a:rPr>
              <a:t> </a:t>
            </a:r>
            <a:r>
              <a:rPr sz="2178" dirty="0">
                <a:latin typeface="Arial MT"/>
                <a:cs typeface="Arial MT"/>
              </a:rPr>
              <a:t>for</a:t>
            </a:r>
            <a:r>
              <a:rPr sz="2178" spc="-77" dirty="0">
                <a:latin typeface="Arial MT"/>
                <a:cs typeface="Arial MT"/>
              </a:rPr>
              <a:t> </a:t>
            </a:r>
            <a:r>
              <a:rPr sz="2178" dirty="0">
                <a:latin typeface="Arial MT"/>
                <a:cs typeface="Arial MT"/>
              </a:rPr>
              <a:t>impact</a:t>
            </a:r>
            <a:r>
              <a:rPr sz="2178" spc="-73" dirty="0">
                <a:latin typeface="Arial MT"/>
                <a:cs typeface="Arial MT"/>
              </a:rPr>
              <a:t> </a:t>
            </a:r>
            <a:r>
              <a:rPr sz="2178" dirty="0">
                <a:latin typeface="Arial MT"/>
                <a:cs typeface="Arial MT"/>
              </a:rPr>
              <a:t>analysis</a:t>
            </a:r>
            <a:r>
              <a:rPr sz="2178" spc="-73" dirty="0">
                <a:latin typeface="Arial MT"/>
                <a:cs typeface="Arial MT"/>
              </a:rPr>
              <a:t> </a:t>
            </a:r>
            <a:r>
              <a:rPr sz="2178" dirty="0">
                <a:latin typeface="Arial MT"/>
                <a:cs typeface="Arial MT"/>
              </a:rPr>
              <a:t>and</a:t>
            </a:r>
            <a:r>
              <a:rPr sz="2178" spc="-77" dirty="0">
                <a:latin typeface="Arial MT"/>
                <a:cs typeface="Arial MT"/>
              </a:rPr>
              <a:t> </a:t>
            </a:r>
            <a:r>
              <a:rPr sz="2178" spc="-9" dirty="0">
                <a:latin typeface="Arial MT"/>
                <a:cs typeface="Arial MT"/>
              </a:rPr>
              <a:t>implementation </a:t>
            </a:r>
            <a:r>
              <a:rPr sz="2178" dirty="0">
                <a:latin typeface="Arial MT"/>
                <a:cs typeface="Arial MT"/>
              </a:rPr>
              <a:t>Number</a:t>
            </a:r>
            <a:r>
              <a:rPr sz="2178" spc="-82" dirty="0">
                <a:latin typeface="Arial MT"/>
                <a:cs typeface="Arial MT"/>
              </a:rPr>
              <a:t> </a:t>
            </a:r>
            <a:r>
              <a:rPr sz="2178" dirty="0">
                <a:latin typeface="Arial MT"/>
                <a:cs typeface="Arial MT"/>
              </a:rPr>
              <a:t>of</a:t>
            </a:r>
            <a:r>
              <a:rPr sz="2178" spc="-86" dirty="0">
                <a:latin typeface="Arial MT"/>
                <a:cs typeface="Arial MT"/>
              </a:rPr>
              <a:t> </a:t>
            </a:r>
            <a:r>
              <a:rPr sz="2178" dirty="0">
                <a:latin typeface="Arial MT"/>
                <a:cs typeface="Arial MT"/>
              </a:rPr>
              <a:t>outstanding</a:t>
            </a:r>
            <a:r>
              <a:rPr sz="2178" spc="-91" dirty="0">
                <a:latin typeface="Arial MT"/>
                <a:cs typeface="Arial MT"/>
              </a:rPr>
              <a:t> </a:t>
            </a:r>
            <a:r>
              <a:rPr sz="2178" spc="-9" dirty="0">
                <a:latin typeface="Arial MT"/>
                <a:cs typeface="Arial MT"/>
              </a:rPr>
              <a:t>requests</a:t>
            </a:r>
            <a:endParaRPr sz="2178">
              <a:latin typeface="Arial MT"/>
              <a:cs typeface="Arial MT"/>
            </a:endParaRPr>
          </a:p>
        </p:txBody>
      </p:sp>
      <p:sp>
        <p:nvSpPr>
          <p:cNvPr id="7" name="object 7"/>
          <p:cNvSpPr txBox="1"/>
          <p:nvPr/>
        </p:nvSpPr>
        <p:spPr>
          <a:xfrm>
            <a:off x="2064188" y="4470955"/>
            <a:ext cx="155025" cy="212966"/>
          </a:xfrm>
          <a:prstGeom prst="rect">
            <a:avLst/>
          </a:prstGeom>
        </p:spPr>
        <p:txBody>
          <a:bodyPr vert="horz" wrap="square" lIns="0" tIns="10373" rIns="0" bIns="0" rtlCol="0">
            <a:spAutoFit/>
          </a:bodyPr>
          <a:lstStyle/>
          <a:p>
            <a:pPr marL="11527">
              <a:spcBef>
                <a:spcPts val="82"/>
              </a:spcBef>
            </a:pPr>
            <a:r>
              <a:rPr sz="1316" spc="191" dirty="0">
                <a:latin typeface="Trebuchet MS"/>
                <a:cs typeface="Trebuchet MS"/>
              </a:rPr>
              <a:t>●</a:t>
            </a:r>
            <a:endParaRPr sz="1316">
              <a:latin typeface="Trebuchet MS"/>
              <a:cs typeface="Trebuchet MS"/>
            </a:endParaRPr>
          </a:p>
        </p:txBody>
      </p:sp>
      <p:sp>
        <p:nvSpPr>
          <p:cNvPr id="8" name="object 8"/>
          <p:cNvSpPr txBox="1"/>
          <p:nvPr/>
        </p:nvSpPr>
        <p:spPr>
          <a:xfrm>
            <a:off x="2358101" y="4346474"/>
            <a:ext cx="2765676" cy="458556"/>
          </a:xfrm>
          <a:prstGeom prst="rect">
            <a:avLst/>
          </a:prstGeom>
        </p:spPr>
        <p:txBody>
          <a:bodyPr vert="horz" wrap="square" lIns="0" tIns="11526" rIns="0" bIns="0" rtlCol="0">
            <a:spAutoFit/>
          </a:bodyPr>
          <a:lstStyle/>
          <a:p>
            <a:pPr marL="11527">
              <a:spcBef>
                <a:spcPts val="91"/>
              </a:spcBef>
            </a:pPr>
            <a:r>
              <a:rPr sz="2904" dirty="0">
                <a:latin typeface="Arial MT"/>
                <a:cs typeface="Arial MT"/>
              </a:rPr>
              <a:t>Strategic</a:t>
            </a:r>
            <a:r>
              <a:rPr sz="2904" spc="-64" dirty="0">
                <a:latin typeface="Arial MT"/>
                <a:cs typeface="Arial MT"/>
              </a:rPr>
              <a:t> </a:t>
            </a:r>
            <a:r>
              <a:rPr sz="2904" spc="-9" dirty="0">
                <a:latin typeface="Arial MT"/>
                <a:cs typeface="Arial MT"/>
              </a:rPr>
              <a:t>options</a:t>
            </a:r>
            <a:endParaRPr sz="2904">
              <a:latin typeface="Arial MT"/>
              <a:cs typeface="Arial MT"/>
            </a:endParaRPr>
          </a:p>
        </p:txBody>
      </p:sp>
      <p:sp>
        <p:nvSpPr>
          <p:cNvPr id="9" name="object 9"/>
          <p:cNvSpPr txBox="1"/>
          <p:nvPr/>
        </p:nvSpPr>
        <p:spPr>
          <a:xfrm>
            <a:off x="2881383" y="4966574"/>
            <a:ext cx="126787" cy="1073852"/>
          </a:xfrm>
          <a:prstGeom prst="rect">
            <a:avLst/>
          </a:prstGeom>
        </p:spPr>
        <p:txBody>
          <a:bodyPr vert="horz" wrap="square" lIns="0" tIns="11526" rIns="0" bIns="0" rtlCol="0">
            <a:spAutoFit/>
          </a:bodyPr>
          <a:lstStyle/>
          <a:p>
            <a:pPr marL="11527">
              <a:spcBef>
                <a:spcPts val="91"/>
              </a:spcBef>
            </a:pPr>
            <a:r>
              <a:rPr sz="1634" spc="163" dirty="0">
                <a:latin typeface="Trebuchet MS"/>
                <a:cs typeface="Trebuchet MS"/>
              </a:rPr>
              <a:t>–</a:t>
            </a:r>
            <a:endParaRPr sz="1634">
              <a:latin typeface="Trebuchet MS"/>
              <a:cs typeface="Trebuchet MS"/>
            </a:endParaRPr>
          </a:p>
          <a:p>
            <a:pPr marL="11527">
              <a:spcBef>
                <a:spcPts val="1243"/>
              </a:spcBef>
            </a:pPr>
            <a:r>
              <a:rPr sz="1634" spc="163" dirty="0">
                <a:latin typeface="Trebuchet MS"/>
                <a:cs typeface="Trebuchet MS"/>
              </a:rPr>
              <a:t>–</a:t>
            </a:r>
            <a:endParaRPr sz="1634">
              <a:latin typeface="Trebuchet MS"/>
              <a:cs typeface="Trebuchet MS"/>
            </a:endParaRPr>
          </a:p>
          <a:p>
            <a:pPr marL="11527">
              <a:spcBef>
                <a:spcPts val="1234"/>
              </a:spcBef>
            </a:pPr>
            <a:r>
              <a:rPr sz="1634" spc="163" dirty="0">
                <a:latin typeface="Trebuchet MS"/>
                <a:cs typeface="Trebuchet MS"/>
              </a:rPr>
              <a:t>–</a:t>
            </a:r>
            <a:endParaRPr sz="1634">
              <a:latin typeface="Trebuchet MS"/>
              <a:cs typeface="Trebuchet MS"/>
            </a:endParaRPr>
          </a:p>
        </p:txBody>
      </p:sp>
      <p:sp>
        <p:nvSpPr>
          <p:cNvPr id="10" name="object 10"/>
          <p:cNvSpPr txBox="1"/>
          <p:nvPr/>
        </p:nvSpPr>
        <p:spPr>
          <a:xfrm>
            <a:off x="3141872" y="4853620"/>
            <a:ext cx="6979024" cy="1248196"/>
          </a:xfrm>
          <a:prstGeom prst="rect">
            <a:avLst/>
          </a:prstGeom>
        </p:spPr>
        <p:txBody>
          <a:bodyPr vert="horz" wrap="square" lIns="0" tIns="11526" rIns="0" bIns="0" rtlCol="0">
            <a:spAutoFit/>
          </a:bodyPr>
          <a:lstStyle/>
          <a:p>
            <a:pPr marL="11527" marR="4611">
              <a:lnSpc>
                <a:spcPct val="122600"/>
              </a:lnSpc>
              <a:spcBef>
                <a:spcPts val="91"/>
              </a:spcBef>
            </a:pPr>
            <a:r>
              <a:rPr sz="2178" dirty="0">
                <a:latin typeface="Arial MT"/>
                <a:cs typeface="Arial MT"/>
              </a:rPr>
              <a:t>Leave</a:t>
            </a:r>
            <a:r>
              <a:rPr sz="2178" spc="-73" dirty="0">
                <a:latin typeface="Arial MT"/>
                <a:cs typeface="Arial MT"/>
              </a:rPr>
              <a:t> </a:t>
            </a:r>
            <a:r>
              <a:rPr sz="2178" dirty="0">
                <a:latin typeface="Arial MT"/>
                <a:cs typeface="Arial MT"/>
              </a:rPr>
              <a:t>the</a:t>
            </a:r>
            <a:r>
              <a:rPr sz="2178" spc="-68" dirty="0">
                <a:latin typeface="Arial MT"/>
                <a:cs typeface="Arial MT"/>
              </a:rPr>
              <a:t> </a:t>
            </a:r>
            <a:r>
              <a:rPr sz="2178" dirty="0">
                <a:latin typeface="Arial MT"/>
                <a:cs typeface="Arial MT"/>
              </a:rPr>
              <a:t>system</a:t>
            </a:r>
            <a:r>
              <a:rPr sz="2178" spc="-64" dirty="0">
                <a:latin typeface="Arial MT"/>
                <a:cs typeface="Arial MT"/>
              </a:rPr>
              <a:t> </a:t>
            </a:r>
            <a:r>
              <a:rPr sz="2178" spc="-9" dirty="0">
                <a:latin typeface="Arial MT"/>
                <a:cs typeface="Arial MT"/>
              </a:rPr>
              <a:t>unchanged</a:t>
            </a:r>
            <a:r>
              <a:rPr sz="2178" spc="-68" dirty="0">
                <a:latin typeface="Arial MT"/>
                <a:cs typeface="Arial MT"/>
              </a:rPr>
              <a:t> </a:t>
            </a:r>
            <a:r>
              <a:rPr sz="2178" dirty="0">
                <a:latin typeface="Arial MT"/>
                <a:cs typeface="Arial MT"/>
              </a:rPr>
              <a:t>(with</a:t>
            </a:r>
            <a:r>
              <a:rPr sz="2178" spc="-64" dirty="0">
                <a:latin typeface="Arial MT"/>
                <a:cs typeface="Arial MT"/>
              </a:rPr>
              <a:t> </a:t>
            </a:r>
            <a:r>
              <a:rPr sz="2178" dirty="0">
                <a:latin typeface="Arial MT"/>
                <a:cs typeface="Arial MT"/>
              </a:rPr>
              <a:t>regular</a:t>
            </a:r>
            <a:r>
              <a:rPr sz="2178" spc="-64" dirty="0">
                <a:latin typeface="Arial MT"/>
                <a:cs typeface="Arial MT"/>
              </a:rPr>
              <a:t> </a:t>
            </a:r>
            <a:r>
              <a:rPr sz="2178" spc="-9" dirty="0">
                <a:latin typeface="Arial MT"/>
                <a:cs typeface="Arial MT"/>
              </a:rPr>
              <a:t>maintenance) </a:t>
            </a:r>
            <a:r>
              <a:rPr sz="2178" dirty="0">
                <a:latin typeface="Arial MT"/>
                <a:cs typeface="Arial MT"/>
              </a:rPr>
              <a:t>Scrap</a:t>
            </a:r>
            <a:r>
              <a:rPr sz="2178" spc="-64" dirty="0">
                <a:latin typeface="Arial MT"/>
                <a:cs typeface="Arial MT"/>
              </a:rPr>
              <a:t> </a:t>
            </a:r>
            <a:r>
              <a:rPr sz="2178" dirty="0">
                <a:latin typeface="Arial MT"/>
                <a:cs typeface="Arial MT"/>
              </a:rPr>
              <a:t>and</a:t>
            </a:r>
            <a:r>
              <a:rPr sz="2178" spc="-59" dirty="0">
                <a:latin typeface="Arial MT"/>
                <a:cs typeface="Arial MT"/>
              </a:rPr>
              <a:t> </a:t>
            </a:r>
            <a:r>
              <a:rPr sz="2178" dirty="0">
                <a:latin typeface="Arial MT"/>
                <a:cs typeface="Arial MT"/>
              </a:rPr>
              <a:t>replace</a:t>
            </a:r>
            <a:r>
              <a:rPr sz="2178" spc="-59" dirty="0">
                <a:latin typeface="Arial MT"/>
                <a:cs typeface="Arial MT"/>
              </a:rPr>
              <a:t> </a:t>
            </a:r>
            <a:r>
              <a:rPr sz="2178" dirty="0">
                <a:latin typeface="Arial MT"/>
                <a:cs typeface="Arial MT"/>
              </a:rPr>
              <a:t>(all</a:t>
            </a:r>
            <a:r>
              <a:rPr sz="2178" spc="-64" dirty="0">
                <a:latin typeface="Arial MT"/>
                <a:cs typeface="Arial MT"/>
              </a:rPr>
              <a:t> </a:t>
            </a:r>
            <a:r>
              <a:rPr sz="2178" dirty="0">
                <a:latin typeface="Arial MT"/>
                <a:cs typeface="Arial MT"/>
              </a:rPr>
              <a:t>or</a:t>
            </a:r>
            <a:r>
              <a:rPr sz="2178" spc="-54" dirty="0">
                <a:latin typeface="Arial MT"/>
                <a:cs typeface="Arial MT"/>
              </a:rPr>
              <a:t> </a:t>
            </a:r>
            <a:r>
              <a:rPr sz="2178" spc="-9" dirty="0">
                <a:latin typeface="Arial MT"/>
                <a:cs typeface="Arial MT"/>
              </a:rPr>
              <a:t>parts)</a:t>
            </a:r>
            <a:endParaRPr sz="2178">
              <a:latin typeface="Arial MT"/>
              <a:cs typeface="Arial MT"/>
            </a:endParaRPr>
          </a:p>
          <a:p>
            <a:pPr marL="11527">
              <a:spcBef>
                <a:spcPts val="590"/>
              </a:spcBef>
            </a:pPr>
            <a:r>
              <a:rPr sz="2178" spc="-23" dirty="0">
                <a:latin typeface="Arial MT"/>
                <a:cs typeface="Arial MT"/>
              </a:rPr>
              <a:t>Re-</a:t>
            </a:r>
            <a:r>
              <a:rPr sz="2178" spc="-9" dirty="0">
                <a:latin typeface="Arial MT"/>
                <a:cs typeface="Arial MT"/>
              </a:rPr>
              <a:t>engineer</a:t>
            </a:r>
            <a:endParaRPr sz="2178">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0877" y="358071"/>
            <a:ext cx="9543570" cy="1149636"/>
          </a:xfrm>
          <a:prstGeom prst="rect">
            <a:avLst/>
          </a:prstGeom>
        </p:spPr>
        <p:txBody>
          <a:bodyPr vert="horz" wrap="square" lIns="0" tIns="467958" rIns="0" bIns="0" rtlCol="0" anchor="ctr">
            <a:spAutoFit/>
          </a:bodyPr>
          <a:lstStyle/>
          <a:p>
            <a:pPr marL="887542">
              <a:lnSpc>
                <a:spcPct val="100000"/>
              </a:lnSpc>
              <a:spcBef>
                <a:spcPts val="91"/>
              </a:spcBef>
            </a:pPr>
            <a:r>
              <a:rPr dirty="0"/>
              <a:t>Software</a:t>
            </a:r>
            <a:r>
              <a:rPr spc="-154" dirty="0"/>
              <a:t> </a:t>
            </a:r>
            <a:r>
              <a:rPr spc="-9" dirty="0"/>
              <a:t>Re-Engineering</a:t>
            </a:r>
          </a:p>
        </p:txBody>
      </p:sp>
      <p:sp>
        <p:nvSpPr>
          <p:cNvPr id="3" name="object 3"/>
          <p:cNvSpPr txBox="1"/>
          <p:nvPr/>
        </p:nvSpPr>
        <p:spPr>
          <a:xfrm>
            <a:off x="2064188" y="5242048"/>
            <a:ext cx="122176" cy="161774"/>
          </a:xfrm>
          <a:prstGeom prst="rect">
            <a:avLst/>
          </a:prstGeom>
        </p:spPr>
        <p:txBody>
          <a:bodyPr vert="horz" wrap="square" lIns="0" tIns="14984" rIns="0" bIns="0" rtlCol="0">
            <a:spAutoFit/>
          </a:bodyPr>
          <a:lstStyle/>
          <a:p>
            <a:pPr marL="11527">
              <a:spcBef>
                <a:spcPts val="118"/>
              </a:spcBef>
            </a:pPr>
            <a:r>
              <a:rPr sz="953" spc="150" dirty="0">
                <a:latin typeface="Trebuchet MS"/>
                <a:cs typeface="Trebuchet MS"/>
              </a:rPr>
              <a:t>●</a:t>
            </a:r>
            <a:endParaRPr sz="953">
              <a:latin typeface="Trebuchet MS"/>
              <a:cs typeface="Trebuchet MS"/>
            </a:endParaRPr>
          </a:p>
        </p:txBody>
      </p:sp>
      <p:sp>
        <p:nvSpPr>
          <p:cNvPr id="4" name="object 4"/>
          <p:cNvSpPr txBox="1"/>
          <p:nvPr/>
        </p:nvSpPr>
        <p:spPr>
          <a:xfrm>
            <a:off x="2358101" y="5146381"/>
            <a:ext cx="7349586" cy="346795"/>
          </a:xfrm>
          <a:prstGeom prst="rect">
            <a:avLst/>
          </a:prstGeom>
        </p:spPr>
        <p:txBody>
          <a:bodyPr vert="horz" wrap="square" lIns="0" tIns="11526" rIns="0" bIns="0" rtlCol="0">
            <a:spAutoFit/>
          </a:bodyPr>
          <a:lstStyle/>
          <a:p>
            <a:pPr marL="11527">
              <a:spcBef>
                <a:spcPts val="91"/>
              </a:spcBef>
            </a:pPr>
            <a:r>
              <a:rPr sz="2178" dirty="0">
                <a:latin typeface="Arial MT"/>
                <a:cs typeface="Arial MT"/>
              </a:rPr>
              <a:t>Process</a:t>
            </a:r>
            <a:r>
              <a:rPr sz="2178" spc="-68" dirty="0">
                <a:latin typeface="Arial MT"/>
                <a:cs typeface="Arial MT"/>
              </a:rPr>
              <a:t> </a:t>
            </a:r>
            <a:r>
              <a:rPr sz="2178" dirty="0">
                <a:latin typeface="Arial MT"/>
                <a:cs typeface="Arial MT"/>
              </a:rPr>
              <a:t>to</a:t>
            </a:r>
            <a:r>
              <a:rPr sz="2178" spc="-82" dirty="0">
                <a:latin typeface="Arial MT"/>
                <a:cs typeface="Arial MT"/>
              </a:rPr>
              <a:t> </a:t>
            </a:r>
            <a:r>
              <a:rPr sz="2178" dirty="0">
                <a:latin typeface="Arial MT"/>
                <a:cs typeface="Arial MT"/>
              </a:rPr>
              <a:t>improve</a:t>
            </a:r>
            <a:r>
              <a:rPr sz="2178" spc="-77" dirty="0">
                <a:latin typeface="Arial MT"/>
                <a:cs typeface="Arial MT"/>
              </a:rPr>
              <a:t> </a:t>
            </a:r>
            <a:r>
              <a:rPr sz="2178" dirty="0">
                <a:latin typeface="Arial MT"/>
                <a:cs typeface="Arial MT"/>
              </a:rPr>
              <a:t>program</a:t>
            </a:r>
            <a:r>
              <a:rPr sz="2178" spc="-68" dirty="0">
                <a:latin typeface="Arial MT"/>
                <a:cs typeface="Arial MT"/>
              </a:rPr>
              <a:t> </a:t>
            </a:r>
            <a:r>
              <a:rPr sz="2178" dirty="0">
                <a:latin typeface="Arial MT"/>
                <a:cs typeface="Arial MT"/>
              </a:rPr>
              <a:t>structure</a:t>
            </a:r>
            <a:r>
              <a:rPr sz="2178" spc="-73" dirty="0">
                <a:latin typeface="Arial MT"/>
                <a:cs typeface="Arial MT"/>
              </a:rPr>
              <a:t> </a:t>
            </a:r>
            <a:r>
              <a:rPr sz="2178" dirty="0">
                <a:latin typeface="Arial MT"/>
                <a:cs typeface="Arial MT"/>
              </a:rPr>
              <a:t>and</a:t>
            </a:r>
            <a:r>
              <a:rPr sz="2178" spc="-77" dirty="0">
                <a:latin typeface="Arial MT"/>
                <a:cs typeface="Arial MT"/>
              </a:rPr>
              <a:t> </a:t>
            </a:r>
            <a:r>
              <a:rPr sz="2178" spc="-9" dirty="0">
                <a:latin typeface="Arial MT"/>
                <a:cs typeface="Arial MT"/>
              </a:rPr>
              <a:t>understandability</a:t>
            </a:r>
            <a:endParaRPr sz="2178">
              <a:latin typeface="Arial MT"/>
              <a:cs typeface="Arial MT"/>
            </a:endParaRPr>
          </a:p>
        </p:txBody>
      </p:sp>
      <p:sp>
        <p:nvSpPr>
          <p:cNvPr id="5" name="object 5"/>
          <p:cNvSpPr txBox="1"/>
          <p:nvPr/>
        </p:nvSpPr>
        <p:spPr>
          <a:xfrm>
            <a:off x="2881384" y="5653528"/>
            <a:ext cx="100853" cy="529729"/>
          </a:xfrm>
          <a:prstGeom prst="rect">
            <a:avLst/>
          </a:prstGeom>
        </p:spPr>
        <p:txBody>
          <a:bodyPr vert="horz" wrap="square" lIns="0" tIns="11526" rIns="0" bIns="0" rtlCol="0">
            <a:spAutoFit/>
          </a:bodyPr>
          <a:lstStyle/>
          <a:p>
            <a:pPr marL="11527">
              <a:spcBef>
                <a:spcPts val="91"/>
              </a:spcBef>
            </a:pPr>
            <a:r>
              <a:rPr sz="1225" spc="113" dirty="0">
                <a:latin typeface="Trebuchet MS"/>
                <a:cs typeface="Trebuchet MS"/>
              </a:rPr>
              <a:t>–</a:t>
            </a:r>
            <a:endParaRPr sz="1225">
              <a:latin typeface="Trebuchet MS"/>
              <a:cs typeface="Trebuchet MS"/>
            </a:endParaRPr>
          </a:p>
          <a:p>
            <a:pPr marL="11527">
              <a:spcBef>
                <a:spcPts val="1135"/>
              </a:spcBef>
            </a:pPr>
            <a:r>
              <a:rPr sz="1225" spc="113" dirty="0">
                <a:latin typeface="Trebuchet MS"/>
                <a:cs typeface="Trebuchet MS"/>
              </a:rPr>
              <a:t>–</a:t>
            </a:r>
            <a:endParaRPr sz="1225">
              <a:latin typeface="Trebuchet MS"/>
              <a:cs typeface="Trebuchet MS"/>
            </a:endParaRPr>
          </a:p>
        </p:txBody>
      </p:sp>
      <p:sp>
        <p:nvSpPr>
          <p:cNvPr id="6" name="object 6"/>
          <p:cNvSpPr txBox="1"/>
          <p:nvPr/>
        </p:nvSpPr>
        <p:spPr>
          <a:xfrm>
            <a:off x="3141872" y="5544031"/>
            <a:ext cx="6773860" cy="910009"/>
          </a:xfrm>
          <a:prstGeom prst="rect">
            <a:avLst/>
          </a:prstGeom>
        </p:spPr>
        <p:txBody>
          <a:bodyPr vert="horz" wrap="square" lIns="0" tIns="93361" rIns="0" bIns="0" rtlCol="0">
            <a:spAutoFit/>
          </a:bodyPr>
          <a:lstStyle/>
          <a:p>
            <a:pPr marL="11527">
              <a:spcBef>
                <a:spcPts val="735"/>
              </a:spcBef>
            </a:pPr>
            <a:r>
              <a:rPr sz="1634" dirty="0">
                <a:latin typeface="Arial MT"/>
                <a:cs typeface="Arial MT"/>
              </a:rPr>
              <a:t>Functionality</a:t>
            </a:r>
            <a:r>
              <a:rPr sz="1634" spc="-59" dirty="0">
                <a:latin typeface="Arial MT"/>
                <a:cs typeface="Arial MT"/>
              </a:rPr>
              <a:t> </a:t>
            </a:r>
            <a:r>
              <a:rPr sz="1634" dirty="0">
                <a:latin typeface="Arial MT"/>
                <a:cs typeface="Arial MT"/>
              </a:rPr>
              <a:t>remains</a:t>
            </a:r>
            <a:r>
              <a:rPr sz="1634" spc="-41" dirty="0">
                <a:latin typeface="Arial MT"/>
                <a:cs typeface="Arial MT"/>
              </a:rPr>
              <a:t> </a:t>
            </a:r>
            <a:r>
              <a:rPr sz="1634" dirty="0">
                <a:latin typeface="Arial MT"/>
                <a:cs typeface="Arial MT"/>
              </a:rPr>
              <a:t>the</a:t>
            </a:r>
            <a:r>
              <a:rPr sz="1634" spc="-41" dirty="0">
                <a:latin typeface="Arial MT"/>
                <a:cs typeface="Arial MT"/>
              </a:rPr>
              <a:t> </a:t>
            </a:r>
            <a:r>
              <a:rPr sz="1634" spc="-18" dirty="0">
                <a:latin typeface="Arial MT"/>
                <a:cs typeface="Arial MT"/>
              </a:rPr>
              <a:t>same</a:t>
            </a:r>
            <a:endParaRPr sz="1634">
              <a:latin typeface="Arial MT"/>
              <a:cs typeface="Arial MT"/>
            </a:endParaRPr>
          </a:p>
          <a:p>
            <a:pPr marL="11527" marR="4611">
              <a:lnSpc>
                <a:spcPts val="1833"/>
              </a:lnSpc>
              <a:spcBef>
                <a:spcPts val="812"/>
              </a:spcBef>
            </a:pPr>
            <a:r>
              <a:rPr sz="1634" dirty="0">
                <a:latin typeface="Arial MT"/>
                <a:cs typeface="Arial MT"/>
              </a:rPr>
              <a:t>Improvements</a:t>
            </a:r>
            <a:r>
              <a:rPr sz="1634" spc="-41" dirty="0">
                <a:latin typeface="Arial MT"/>
                <a:cs typeface="Arial MT"/>
              </a:rPr>
              <a:t> </a:t>
            </a:r>
            <a:r>
              <a:rPr sz="1634" dirty="0">
                <a:latin typeface="Arial MT"/>
                <a:cs typeface="Arial MT"/>
              </a:rPr>
              <a:t>to</a:t>
            </a:r>
            <a:r>
              <a:rPr sz="1634" spc="-41" dirty="0">
                <a:latin typeface="Arial MT"/>
                <a:cs typeface="Arial MT"/>
              </a:rPr>
              <a:t> </a:t>
            </a:r>
            <a:r>
              <a:rPr sz="1634" dirty="0">
                <a:latin typeface="Arial MT"/>
                <a:cs typeface="Arial MT"/>
              </a:rPr>
              <a:t>architecture</a:t>
            </a:r>
            <a:r>
              <a:rPr sz="1634" spc="-36" dirty="0">
                <a:latin typeface="Arial MT"/>
                <a:cs typeface="Arial MT"/>
              </a:rPr>
              <a:t> </a:t>
            </a:r>
            <a:r>
              <a:rPr sz="1634" dirty="0">
                <a:latin typeface="Arial MT"/>
                <a:cs typeface="Arial MT"/>
              </a:rPr>
              <a:t>and</a:t>
            </a:r>
            <a:r>
              <a:rPr sz="1634" spc="-41" dirty="0">
                <a:latin typeface="Arial MT"/>
                <a:cs typeface="Arial MT"/>
              </a:rPr>
              <a:t> </a:t>
            </a:r>
            <a:r>
              <a:rPr sz="1634" dirty="0">
                <a:latin typeface="Arial MT"/>
                <a:cs typeface="Arial MT"/>
              </a:rPr>
              <a:t>design,</a:t>
            </a:r>
            <a:r>
              <a:rPr sz="1634" spc="-32" dirty="0">
                <a:latin typeface="Arial MT"/>
                <a:cs typeface="Arial MT"/>
              </a:rPr>
              <a:t> </a:t>
            </a:r>
            <a:r>
              <a:rPr sz="1634" dirty="0">
                <a:latin typeface="Arial MT"/>
                <a:cs typeface="Arial MT"/>
              </a:rPr>
              <a:t>code,</a:t>
            </a:r>
            <a:r>
              <a:rPr sz="1634" spc="-27" dirty="0">
                <a:latin typeface="Arial MT"/>
                <a:cs typeface="Arial MT"/>
              </a:rPr>
              <a:t> </a:t>
            </a:r>
            <a:r>
              <a:rPr sz="1634" dirty="0">
                <a:latin typeface="Arial MT"/>
                <a:cs typeface="Arial MT"/>
              </a:rPr>
              <a:t>documentation</a:t>
            </a:r>
            <a:r>
              <a:rPr sz="1634" spc="-41" dirty="0">
                <a:latin typeface="Arial MT"/>
                <a:cs typeface="Arial MT"/>
              </a:rPr>
              <a:t> </a:t>
            </a:r>
            <a:r>
              <a:rPr sz="1634" dirty="0">
                <a:latin typeface="Arial MT"/>
                <a:cs typeface="Arial MT"/>
              </a:rPr>
              <a:t>as</a:t>
            </a:r>
            <a:r>
              <a:rPr sz="1634" spc="-41" dirty="0">
                <a:latin typeface="Arial MT"/>
                <a:cs typeface="Arial MT"/>
              </a:rPr>
              <a:t> </a:t>
            </a:r>
            <a:r>
              <a:rPr sz="1634" dirty="0">
                <a:latin typeface="Arial MT"/>
                <a:cs typeface="Arial MT"/>
              </a:rPr>
              <a:t>well</a:t>
            </a:r>
            <a:r>
              <a:rPr sz="1634" spc="-36" dirty="0">
                <a:latin typeface="Arial MT"/>
                <a:cs typeface="Arial MT"/>
              </a:rPr>
              <a:t> </a:t>
            </a:r>
            <a:r>
              <a:rPr sz="1634" spc="-23" dirty="0">
                <a:latin typeface="Arial MT"/>
                <a:cs typeface="Arial MT"/>
              </a:rPr>
              <a:t>as </a:t>
            </a:r>
            <a:r>
              <a:rPr sz="1634" dirty="0">
                <a:latin typeface="Arial MT"/>
                <a:cs typeface="Arial MT"/>
              </a:rPr>
              <a:t>data</a:t>
            </a:r>
            <a:r>
              <a:rPr sz="1634" spc="-36" dirty="0">
                <a:latin typeface="Arial MT"/>
                <a:cs typeface="Arial MT"/>
              </a:rPr>
              <a:t> </a:t>
            </a:r>
            <a:r>
              <a:rPr sz="1634" dirty="0">
                <a:latin typeface="Arial MT"/>
                <a:cs typeface="Arial MT"/>
              </a:rPr>
              <a:t>management</a:t>
            </a:r>
            <a:r>
              <a:rPr sz="1634" spc="-27" dirty="0">
                <a:latin typeface="Arial MT"/>
                <a:cs typeface="Arial MT"/>
              </a:rPr>
              <a:t> </a:t>
            </a:r>
            <a:r>
              <a:rPr sz="1634" dirty="0">
                <a:latin typeface="Arial MT"/>
                <a:cs typeface="Arial MT"/>
              </a:rPr>
              <a:t>are</a:t>
            </a:r>
            <a:r>
              <a:rPr sz="1634" spc="-32" dirty="0">
                <a:latin typeface="Arial MT"/>
                <a:cs typeface="Arial MT"/>
              </a:rPr>
              <a:t> </a:t>
            </a:r>
            <a:r>
              <a:rPr sz="1634" spc="-9" dirty="0">
                <a:latin typeface="Arial MT"/>
                <a:cs typeface="Arial MT"/>
              </a:rPr>
              <a:t>considered</a:t>
            </a:r>
            <a:endParaRPr sz="1634">
              <a:latin typeface="Arial MT"/>
              <a:cs typeface="Arial MT"/>
            </a:endParaRPr>
          </a:p>
        </p:txBody>
      </p:sp>
      <p:pic>
        <p:nvPicPr>
          <p:cNvPr id="7" name="object 7"/>
          <p:cNvPicPr/>
          <p:nvPr/>
        </p:nvPicPr>
        <p:blipFill>
          <a:blip r:embed="rId2" cstate="print"/>
          <a:stretch>
            <a:fillRect/>
          </a:stretch>
        </p:blipFill>
        <p:spPr>
          <a:xfrm>
            <a:off x="2932175" y="1609286"/>
            <a:ext cx="5960351" cy="292699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5220" y="-60703"/>
            <a:ext cx="4971762" cy="402643"/>
          </a:xfrm>
          <a:prstGeom prst="rect">
            <a:avLst/>
          </a:prstGeom>
        </p:spPr>
        <p:txBody>
          <a:bodyPr vert="horz" wrap="square" lIns="0" tIns="11526" rIns="0" bIns="0" rtlCol="0" anchor="ctr">
            <a:spAutoFit/>
          </a:bodyPr>
          <a:lstStyle/>
          <a:p>
            <a:pPr marL="11527">
              <a:lnSpc>
                <a:spcPct val="100000"/>
              </a:lnSpc>
              <a:spcBef>
                <a:spcPts val="91"/>
              </a:spcBef>
            </a:pPr>
            <a:r>
              <a:rPr sz="2541" dirty="0"/>
              <a:t>Software</a:t>
            </a:r>
            <a:r>
              <a:rPr sz="2541" spc="-18" dirty="0"/>
              <a:t> </a:t>
            </a:r>
            <a:r>
              <a:rPr sz="2541" spc="-23" dirty="0"/>
              <a:t>Re-</a:t>
            </a:r>
            <a:r>
              <a:rPr sz="2541" spc="-18" dirty="0"/>
              <a:t>Engineering</a:t>
            </a:r>
            <a:r>
              <a:rPr sz="2541" spc="-154" dirty="0"/>
              <a:t> </a:t>
            </a:r>
            <a:r>
              <a:rPr sz="2541" spc="-9" dirty="0"/>
              <a:t>Activities</a:t>
            </a:r>
            <a:endParaRPr sz="2541"/>
          </a:p>
        </p:txBody>
      </p:sp>
      <p:sp>
        <p:nvSpPr>
          <p:cNvPr id="3" name="object 3"/>
          <p:cNvSpPr/>
          <p:nvPr/>
        </p:nvSpPr>
        <p:spPr>
          <a:xfrm>
            <a:off x="1545515" y="325034"/>
            <a:ext cx="1889120" cy="325035"/>
          </a:xfrm>
          <a:custGeom>
            <a:avLst/>
            <a:gdLst/>
            <a:ahLst/>
            <a:cxnLst/>
            <a:rect l="l" t="t" r="r" b="b"/>
            <a:pathLst>
              <a:path w="2081530" h="358140">
                <a:moveTo>
                  <a:pt x="2081530" y="0"/>
                </a:moveTo>
                <a:lnTo>
                  <a:pt x="0" y="0"/>
                </a:lnTo>
                <a:lnTo>
                  <a:pt x="0" y="358139"/>
                </a:lnTo>
                <a:lnTo>
                  <a:pt x="2081530" y="358139"/>
                </a:lnTo>
                <a:lnTo>
                  <a:pt x="2081530" y="0"/>
                </a:lnTo>
                <a:close/>
              </a:path>
            </a:pathLst>
          </a:custGeom>
          <a:solidFill>
            <a:srgbClr val="B2B2B2"/>
          </a:solidFill>
        </p:spPr>
        <p:txBody>
          <a:bodyPr wrap="square" lIns="0" tIns="0" rIns="0" bIns="0" rtlCol="0"/>
          <a:lstStyle/>
          <a:p>
            <a:endParaRPr sz="1634"/>
          </a:p>
        </p:txBody>
      </p:sp>
      <p:sp>
        <p:nvSpPr>
          <p:cNvPr id="4" name="object 4"/>
          <p:cNvSpPr txBox="1"/>
          <p:nvPr/>
        </p:nvSpPr>
        <p:spPr>
          <a:xfrm>
            <a:off x="1615825" y="341170"/>
            <a:ext cx="761871" cy="263118"/>
          </a:xfrm>
          <a:prstGeom prst="rect">
            <a:avLst/>
          </a:prstGeom>
        </p:spPr>
        <p:txBody>
          <a:bodyPr vert="horz" wrap="square" lIns="0" tIns="11526" rIns="0" bIns="0" rtlCol="0">
            <a:spAutoFit/>
          </a:bodyPr>
          <a:lstStyle/>
          <a:p>
            <a:pPr marL="11527">
              <a:spcBef>
                <a:spcPts val="91"/>
              </a:spcBef>
            </a:pPr>
            <a:r>
              <a:rPr sz="1634" b="1" spc="-9" dirty="0">
                <a:latin typeface="Arial"/>
                <a:cs typeface="Arial"/>
              </a:rPr>
              <a:t>Activity</a:t>
            </a:r>
            <a:endParaRPr sz="1634">
              <a:latin typeface="Arial"/>
              <a:cs typeface="Arial"/>
            </a:endParaRPr>
          </a:p>
        </p:txBody>
      </p:sp>
      <p:sp>
        <p:nvSpPr>
          <p:cNvPr id="5" name="object 5"/>
          <p:cNvSpPr/>
          <p:nvPr/>
        </p:nvSpPr>
        <p:spPr>
          <a:xfrm>
            <a:off x="3434635" y="325034"/>
            <a:ext cx="5235132" cy="325035"/>
          </a:xfrm>
          <a:custGeom>
            <a:avLst/>
            <a:gdLst/>
            <a:ahLst/>
            <a:cxnLst/>
            <a:rect l="l" t="t" r="r" b="b"/>
            <a:pathLst>
              <a:path w="5768340" h="358140">
                <a:moveTo>
                  <a:pt x="5768339" y="0"/>
                </a:moveTo>
                <a:lnTo>
                  <a:pt x="0" y="0"/>
                </a:lnTo>
                <a:lnTo>
                  <a:pt x="0" y="358139"/>
                </a:lnTo>
                <a:lnTo>
                  <a:pt x="5768339" y="358139"/>
                </a:lnTo>
                <a:lnTo>
                  <a:pt x="5768339" y="0"/>
                </a:lnTo>
                <a:close/>
              </a:path>
            </a:pathLst>
          </a:custGeom>
          <a:solidFill>
            <a:srgbClr val="B2B2B2"/>
          </a:solidFill>
        </p:spPr>
        <p:txBody>
          <a:bodyPr wrap="square" lIns="0" tIns="0" rIns="0" bIns="0" rtlCol="0"/>
          <a:lstStyle/>
          <a:p>
            <a:endParaRPr sz="1634"/>
          </a:p>
        </p:txBody>
      </p:sp>
      <p:sp>
        <p:nvSpPr>
          <p:cNvPr id="6" name="object 6"/>
          <p:cNvSpPr txBox="1"/>
          <p:nvPr/>
        </p:nvSpPr>
        <p:spPr>
          <a:xfrm>
            <a:off x="3504943" y="341170"/>
            <a:ext cx="1162978" cy="263118"/>
          </a:xfrm>
          <a:prstGeom prst="rect">
            <a:avLst/>
          </a:prstGeom>
        </p:spPr>
        <p:txBody>
          <a:bodyPr vert="horz" wrap="square" lIns="0" tIns="11526" rIns="0" bIns="0" rtlCol="0">
            <a:spAutoFit/>
          </a:bodyPr>
          <a:lstStyle/>
          <a:p>
            <a:pPr marL="11527">
              <a:spcBef>
                <a:spcPts val="91"/>
              </a:spcBef>
            </a:pPr>
            <a:r>
              <a:rPr sz="1634" b="1" spc="-9" dirty="0">
                <a:latin typeface="Arial"/>
                <a:cs typeface="Arial"/>
              </a:rPr>
              <a:t>Description</a:t>
            </a:r>
            <a:endParaRPr sz="1634">
              <a:latin typeface="Arial"/>
              <a:cs typeface="Arial"/>
            </a:endParaRPr>
          </a:p>
        </p:txBody>
      </p:sp>
      <p:sp>
        <p:nvSpPr>
          <p:cNvPr id="7" name="object 7"/>
          <p:cNvSpPr/>
          <p:nvPr/>
        </p:nvSpPr>
        <p:spPr>
          <a:xfrm>
            <a:off x="8669766" y="325034"/>
            <a:ext cx="1998617" cy="325035"/>
          </a:xfrm>
          <a:custGeom>
            <a:avLst/>
            <a:gdLst/>
            <a:ahLst/>
            <a:cxnLst/>
            <a:rect l="l" t="t" r="r" b="b"/>
            <a:pathLst>
              <a:path w="2202179" h="358140">
                <a:moveTo>
                  <a:pt x="2202180" y="0"/>
                </a:moveTo>
                <a:lnTo>
                  <a:pt x="0" y="0"/>
                </a:lnTo>
                <a:lnTo>
                  <a:pt x="0" y="358139"/>
                </a:lnTo>
                <a:lnTo>
                  <a:pt x="2202180" y="358139"/>
                </a:lnTo>
                <a:lnTo>
                  <a:pt x="2202180" y="0"/>
                </a:lnTo>
                <a:close/>
              </a:path>
            </a:pathLst>
          </a:custGeom>
          <a:solidFill>
            <a:srgbClr val="B2B2B2"/>
          </a:solidFill>
        </p:spPr>
        <p:txBody>
          <a:bodyPr wrap="square" lIns="0" tIns="0" rIns="0" bIns="0" rtlCol="0"/>
          <a:lstStyle/>
          <a:p>
            <a:endParaRPr sz="1634"/>
          </a:p>
        </p:txBody>
      </p:sp>
      <p:sp>
        <p:nvSpPr>
          <p:cNvPr id="8" name="object 8"/>
          <p:cNvSpPr txBox="1"/>
          <p:nvPr/>
        </p:nvSpPr>
        <p:spPr>
          <a:xfrm>
            <a:off x="8740076" y="341170"/>
            <a:ext cx="990664" cy="263118"/>
          </a:xfrm>
          <a:prstGeom prst="rect">
            <a:avLst/>
          </a:prstGeom>
        </p:spPr>
        <p:txBody>
          <a:bodyPr vert="horz" wrap="square" lIns="0" tIns="11526" rIns="0" bIns="0" rtlCol="0">
            <a:spAutoFit/>
          </a:bodyPr>
          <a:lstStyle/>
          <a:p>
            <a:pPr marL="11527">
              <a:spcBef>
                <a:spcPts val="91"/>
              </a:spcBef>
            </a:pPr>
            <a:r>
              <a:rPr sz="1634" b="1" spc="-9" dirty="0">
                <a:latin typeface="Arial"/>
                <a:cs typeface="Arial"/>
              </a:rPr>
              <a:t>Examples</a:t>
            </a:r>
            <a:endParaRPr sz="1634">
              <a:latin typeface="Arial"/>
              <a:cs typeface="Arial"/>
            </a:endParaRPr>
          </a:p>
        </p:txBody>
      </p:sp>
      <p:sp>
        <p:nvSpPr>
          <p:cNvPr id="9" name="object 9"/>
          <p:cNvSpPr/>
          <p:nvPr/>
        </p:nvSpPr>
        <p:spPr>
          <a:xfrm>
            <a:off x="1545515" y="650069"/>
            <a:ext cx="1889120" cy="1481097"/>
          </a:xfrm>
          <a:custGeom>
            <a:avLst/>
            <a:gdLst/>
            <a:ahLst/>
            <a:cxnLst/>
            <a:rect l="l" t="t" r="r" b="b"/>
            <a:pathLst>
              <a:path w="2081530" h="1631950">
                <a:moveTo>
                  <a:pt x="2081530" y="0"/>
                </a:moveTo>
                <a:lnTo>
                  <a:pt x="0" y="0"/>
                </a:lnTo>
                <a:lnTo>
                  <a:pt x="0" y="1631950"/>
                </a:lnTo>
                <a:lnTo>
                  <a:pt x="2081530" y="1631950"/>
                </a:lnTo>
                <a:lnTo>
                  <a:pt x="2081530" y="0"/>
                </a:lnTo>
                <a:close/>
              </a:path>
            </a:pathLst>
          </a:custGeom>
          <a:solidFill>
            <a:srgbClr val="CCCCCC"/>
          </a:solidFill>
        </p:spPr>
        <p:txBody>
          <a:bodyPr wrap="square" lIns="0" tIns="0" rIns="0" bIns="0" rtlCol="0"/>
          <a:lstStyle/>
          <a:p>
            <a:endParaRPr sz="1634"/>
          </a:p>
        </p:txBody>
      </p:sp>
      <p:sp>
        <p:nvSpPr>
          <p:cNvPr id="10" name="object 10"/>
          <p:cNvSpPr txBox="1"/>
          <p:nvPr/>
        </p:nvSpPr>
        <p:spPr>
          <a:xfrm>
            <a:off x="1615825" y="660442"/>
            <a:ext cx="1185454" cy="494834"/>
          </a:xfrm>
          <a:prstGeom prst="rect">
            <a:avLst/>
          </a:prstGeom>
        </p:spPr>
        <p:txBody>
          <a:bodyPr vert="horz" wrap="square" lIns="0" tIns="32848" rIns="0" bIns="0" rtlCol="0">
            <a:spAutoFit/>
          </a:bodyPr>
          <a:lstStyle/>
          <a:p>
            <a:pPr marL="11527" marR="4611">
              <a:lnSpc>
                <a:spcPts val="1833"/>
              </a:lnSpc>
              <a:spcBef>
                <a:spcPts val="258"/>
              </a:spcBef>
            </a:pPr>
            <a:r>
              <a:rPr sz="1634" dirty="0">
                <a:latin typeface="Arial MT"/>
                <a:cs typeface="Arial MT"/>
              </a:rPr>
              <a:t>Source</a:t>
            </a:r>
            <a:r>
              <a:rPr sz="1634" spc="-45" dirty="0">
                <a:latin typeface="Arial MT"/>
                <a:cs typeface="Arial MT"/>
              </a:rPr>
              <a:t> </a:t>
            </a:r>
            <a:r>
              <a:rPr sz="1634" spc="-18" dirty="0">
                <a:latin typeface="Arial MT"/>
                <a:cs typeface="Arial MT"/>
              </a:rPr>
              <a:t>code </a:t>
            </a:r>
            <a:r>
              <a:rPr sz="1634" spc="-9" dirty="0">
                <a:latin typeface="Arial MT"/>
                <a:cs typeface="Arial MT"/>
              </a:rPr>
              <a:t>translation</a:t>
            </a:r>
            <a:endParaRPr sz="1634">
              <a:latin typeface="Arial MT"/>
              <a:cs typeface="Arial MT"/>
            </a:endParaRPr>
          </a:p>
        </p:txBody>
      </p:sp>
      <p:sp>
        <p:nvSpPr>
          <p:cNvPr id="11" name="object 11"/>
          <p:cNvSpPr/>
          <p:nvPr/>
        </p:nvSpPr>
        <p:spPr>
          <a:xfrm>
            <a:off x="3434635" y="650069"/>
            <a:ext cx="5235132" cy="1481097"/>
          </a:xfrm>
          <a:custGeom>
            <a:avLst/>
            <a:gdLst/>
            <a:ahLst/>
            <a:cxnLst/>
            <a:rect l="l" t="t" r="r" b="b"/>
            <a:pathLst>
              <a:path w="5768340" h="1631950">
                <a:moveTo>
                  <a:pt x="5768339" y="0"/>
                </a:moveTo>
                <a:lnTo>
                  <a:pt x="0" y="0"/>
                </a:lnTo>
                <a:lnTo>
                  <a:pt x="0" y="1631950"/>
                </a:lnTo>
                <a:lnTo>
                  <a:pt x="5768339" y="1631950"/>
                </a:lnTo>
                <a:lnTo>
                  <a:pt x="5768339" y="0"/>
                </a:lnTo>
                <a:close/>
              </a:path>
            </a:pathLst>
          </a:custGeom>
          <a:solidFill>
            <a:srgbClr val="CCCCCC"/>
          </a:solidFill>
        </p:spPr>
        <p:txBody>
          <a:bodyPr wrap="square" lIns="0" tIns="0" rIns="0" bIns="0" rtlCol="0"/>
          <a:lstStyle/>
          <a:p>
            <a:endParaRPr sz="1634"/>
          </a:p>
        </p:txBody>
      </p:sp>
      <p:sp>
        <p:nvSpPr>
          <p:cNvPr id="12" name="object 12"/>
          <p:cNvSpPr txBox="1"/>
          <p:nvPr/>
        </p:nvSpPr>
        <p:spPr>
          <a:xfrm>
            <a:off x="3504943" y="660442"/>
            <a:ext cx="4912403" cy="494834"/>
          </a:xfrm>
          <a:prstGeom prst="rect">
            <a:avLst/>
          </a:prstGeom>
        </p:spPr>
        <p:txBody>
          <a:bodyPr vert="horz" wrap="square" lIns="0" tIns="32848" rIns="0" bIns="0" rtlCol="0">
            <a:spAutoFit/>
          </a:bodyPr>
          <a:lstStyle/>
          <a:p>
            <a:pPr marL="11527" marR="4611">
              <a:lnSpc>
                <a:spcPts val="1833"/>
              </a:lnSpc>
              <a:spcBef>
                <a:spcPts val="258"/>
              </a:spcBef>
            </a:pPr>
            <a:r>
              <a:rPr sz="1634" dirty="0">
                <a:latin typeface="Arial MT"/>
                <a:cs typeface="Arial MT"/>
              </a:rPr>
              <a:t>Convert</a:t>
            </a:r>
            <a:r>
              <a:rPr sz="1634" spc="-36" dirty="0">
                <a:latin typeface="Arial MT"/>
                <a:cs typeface="Arial MT"/>
              </a:rPr>
              <a:t> </a:t>
            </a:r>
            <a:r>
              <a:rPr sz="1634" dirty="0">
                <a:latin typeface="Arial MT"/>
                <a:cs typeface="Arial MT"/>
              </a:rPr>
              <a:t>from</a:t>
            </a:r>
            <a:r>
              <a:rPr sz="1634" spc="-23" dirty="0">
                <a:latin typeface="Arial MT"/>
                <a:cs typeface="Arial MT"/>
              </a:rPr>
              <a:t> </a:t>
            </a:r>
            <a:r>
              <a:rPr sz="1634" dirty="0">
                <a:latin typeface="Arial MT"/>
                <a:cs typeface="Arial MT"/>
              </a:rPr>
              <a:t>one</a:t>
            </a:r>
            <a:r>
              <a:rPr sz="1634" spc="-32" dirty="0">
                <a:latin typeface="Arial MT"/>
                <a:cs typeface="Arial MT"/>
              </a:rPr>
              <a:t> </a:t>
            </a:r>
            <a:r>
              <a:rPr sz="1634" dirty="0">
                <a:latin typeface="Arial MT"/>
                <a:cs typeface="Arial MT"/>
              </a:rPr>
              <a:t>programming</a:t>
            </a:r>
            <a:r>
              <a:rPr sz="1634" spc="-32" dirty="0">
                <a:latin typeface="Arial MT"/>
                <a:cs typeface="Arial MT"/>
              </a:rPr>
              <a:t> </a:t>
            </a:r>
            <a:r>
              <a:rPr sz="1634" dirty="0">
                <a:latin typeface="Arial MT"/>
                <a:cs typeface="Arial MT"/>
              </a:rPr>
              <a:t>language</a:t>
            </a:r>
            <a:r>
              <a:rPr sz="1634" spc="-32" dirty="0">
                <a:latin typeface="Arial MT"/>
                <a:cs typeface="Arial MT"/>
              </a:rPr>
              <a:t> </a:t>
            </a:r>
            <a:r>
              <a:rPr sz="1634" dirty="0">
                <a:latin typeface="Arial MT"/>
                <a:cs typeface="Arial MT"/>
              </a:rPr>
              <a:t>to</a:t>
            </a:r>
            <a:r>
              <a:rPr sz="1634" spc="-32" dirty="0">
                <a:latin typeface="Arial MT"/>
                <a:cs typeface="Arial MT"/>
              </a:rPr>
              <a:t> </a:t>
            </a:r>
            <a:r>
              <a:rPr sz="1634" dirty="0">
                <a:latin typeface="Arial MT"/>
                <a:cs typeface="Arial MT"/>
              </a:rPr>
              <a:t>the</a:t>
            </a:r>
            <a:r>
              <a:rPr sz="1634" spc="-32" dirty="0">
                <a:latin typeface="Arial MT"/>
                <a:cs typeface="Arial MT"/>
              </a:rPr>
              <a:t> </a:t>
            </a:r>
            <a:r>
              <a:rPr sz="1634" spc="-9" dirty="0">
                <a:latin typeface="Arial MT"/>
                <a:cs typeface="Arial MT"/>
              </a:rPr>
              <a:t>other language</a:t>
            </a:r>
            <a:endParaRPr sz="1634">
              <a:latin typeface="Arial MT"/>
              <a:cs typeface="Arial MT"/>
            </a:endParaRPr>
          </a:p>
        </p:txBody>
      </p:sp>
      <p:sp>
        <p:nvSpPr>
          <p:cNvPr id="13" name="object 13"/>
          <p:cNvSpPr txBox="1"/>
          <p:nvPr/>
        </p:nvSpPr>
        <p:spPr>
          <a:xfrm>
            <a:off x="3504943" y="1363531"/>
            <a:ext cx="2382435" cy="263118"/>
          </a:xfrm>
          <a:prstGeom prst="rect">
            <a:avLst/>
          </a:prstGeom>
        </p:spPr>
        <p:txBody>
          <a:bodyPr vert="horz" wrap="square" lIns="0" tIns="11526" rIns="0" bIns="0" rtlCol="0">
            <a:spAutoFit/>
          </a:bodyPr>
          <a:lstStyle/>
          <a:p>
            <a:pPr marL="11527">
              <a:spcBef>
                <a:spcPts val="91"/>
              </a:spcBef>
            </a:pPr>
            <a:r>
              <a:rPr sz="1634" b="1" spc="-9" dirty="0">
                <a:latin typeface="Arial"/>
                <a:cs typeface="Arial"/>
              </a:rPr>
              <a:t>(Completely</a:t>
            </a:r>
            <a:r>
              <a:rPr sz="1634" b="1" spc="-18" dirty="0">
                <a:latin typeface="Arial"/>
                <a:cs typeface="Arial"/>
              </a:rPr>
              <a:t> </a:t>
            </a:r>
            <a:r>
              <a:rPr sz="1634" b="1" spc="-9" dirty="0">
                <a:latin typeface="Arial"/>
                <a:cs typeface="Arial"/>
              </a:rPr>
              <a:t>automated)</a:t>
            </a:r>
            <a:endParaRPr sz="1634">
              <a:latin typeface="Arial"/>
              <a:cs typeface="Arial"/>
            </a:endParaRPr>
          </a:p>
        </p:txBody>
      </p:sp>
      <p:sp>
        <p:nvSpPr>
          <p:cNvPr id="14" name="object 14"/>
          <p:cNvSpPr/>
          <p:nvPr/>
        </p:nvSpPr>
        <p:spPr>
          <a:xfrm>
            <a:off x="8669766" y="650069"/>
            <a:ext cx="1998617" cy="1481097"/>
          </a:xfrm>
          <a:custGeom>
            <a:avLst/>
            <a:gdLst/>
            <a:ahLst/>
            <a:cxnLst/>
            <a:rect l="l" t="t" r="r" b="b"/>
            <a:pathLst>
              <a:path w="2202179" h="1631950">
                <a:moveTo>
                  <a:pt x="2202180" y="0"/>
                </a:moveTo>
                <a:lnTo>
                  <a:pt x="0" y="0"/>
                </a:lnTo>
                <a:lnTo>
                  <a:pt x="0" y="1631950"/>
                </a:lnTo>
                <a:lnTo>
                  <a:pt x="2202180" y="1631950"/>
                </a:lnTo>
                <a:lnTo>
                  <a:pt x="2202180" y="0"/>
                </a:lnTo>
                <a:close/>
              </a:path>
            </a:pathLst>
          </a:custGeom>
          <a:solidFill>
            <a:srgbClr val="CCCCCC"/>
          </a:solidFill>
        </p:spPr>
        <p:txBody>
          <a:bodyPr wrap="square" lIns="0" tIns="0" rIns="0" bIns="0" rtlCol="0"/>
          <a:lstStyle/>
          <a:p>
            <a:endParaRPr sz="1634"/>
          </a:p>
        </p:txBody>
      </p:sp>
      <p:sp>
        <p:nvSpPr>
          <p:cNvPr id="15" name="object 15"/>
          <p:cNvSpPr txBox="1"/>
          <p:nvPr/>
        </p:nvSpPr>
        <p:spPr>
          <a:xfrm>
            <a:off x="8740076" y="660442"/>
            <a:ext cx="1266137" cy="494834"/>
          </a:xfrm>
          <a:prstGeom prst="rect">
            <a:avLst/>
          </a:prstGeom>
        </p:spPr>
        <p:txBody>
          <a:bodyPr vert="horz" wrap="square" lIns="0" tIns="32848" rIns="0" bIns="0" rtlCol="0">
            <a:spAutoFit/>
          </a:bodyPr>
          <a:lstStyle/>
          <a:p>
            <a:pPr marL="11527" marR="4611">
              <a:lnSpc>
                <a:spcPts val="1833"/>
              </a:lnSpc>
              <a:spcBef>
                <a:spcPts val="258"/>
              </a:spcBef>
            </a:pPr>
            <a:r>
              <a:rPr sz="1634" dirty="0">
                <a:latin typeface="Arial MT"/>
                <a:cs typeface="Arial MT"/>
              </a:rPr>
              <a:t>Java</a:t>
            </a:r>
            <a:r>
              <a:rPr sz="1634" spc="-14" dirty="0">
                <a:latin typeface="Arial MT"/>
                <a:cs typeface="Arial MT"/>
              </a:rPr>
              <a:t> </a:t>
            </a:r>
            <a:r>
              <a:rPr sz="1634" dirty="0">
                <a:latin typeface="Arial MT"/>
                <a:cs typeface="Arial MT"/>
              </a:rPr>
              <a:t>to</a:t>
            </a:r>
            <a:r>
              <a:rPr sz="1634" spc="-14" dirty="0">
                <a:latin typeface="Arial MT"/>
                <a:cs typeface="Arial MT"/>
              </a:rPr>
              <a:t> </a:t>
            </a:r>
            <a:r>
              <a:rPr sz="1634" spc="-9" dirty="0">
                <a:latin typeface="Arial MT"/>
                <a:cs typeface="Arial MT"/>
              </a:rPr>
              <a:t>Kotlin (Android)</a:t>
            </a:r>
            <a:endParaRPr sz="1634">
              <a:latin typeface="Arial MT"/>
              <a:cs typeface="Arial MT"/>
            </a:endParaRPr>
          </a:p>
        </p:txBody>
      </p:sp>
      <p:sp>
        <p:nvSpPr>
          <p:cNvPr id="16" name="object 16"/>
          <p:cNvSpPr txBox="1"/>
          <p:nvPr/>
        </p:nvSpPr>
        <p:spPr>
          <a:xfrm>
            <a:off x="8740076" y="1357769"/>
            <a:ext cx="1125519" cy="729784"/>
          </a:xfrm>
          <a:prstGeom prst="rect">
            <a:avLst/>
          </a:prstGeom>
        </p:spPr>
        <p:txBody>
          <a:bodyPr vert="horz" wrap="square" lIns="0" tIns="11526" rIns="0" bIns="0" rtlCol="0">
            <a:spAutoFit/>
          </a:bodyPr>
          <a:lstStyle/>
          <a:p>
            <a:pPr marL="11527">
              <a:lnSpc>
                <a:spcPts val="1897"/>
              </a:lnSpc>
              <a:spcBef>
                <a:spcPts val="91"/>
              </a:spcBef>
            </a:pPr>
            <a:r>
              <a:rPr sz="1634" dirty="0">
                <a:latin typeface="Arial MT"/>
                <a:cs typeface="Arial MT"/>
              </a:rPr>
              <a:t>PHP</a:t>
            </a:r>
            <a:r>
              <a:rPr sz="1634" spc="-36" dirty="0">
                <a:latin typeface="Arial MT"/>
                <a:cs typeface="Arial MT"/>
              </a:rPr>
              <a:t> </a:t>
            </a:r>
            <a:r>
              <a:rPr sz="1634" dirty="0">
                <a:latin typeface="Arial MT"/>
                <a:cs typeface="Arial MT"/>
              </a:rPr>
              <a:t>to</a:t>
            </a:r>
            <a:r>
              <a:rPr sz="1634" spc="-18" dirty="0">
                <a:latin typeface="Arial MT"/>
                <a:cs typeface="Arial MT"/>
              </a:rPr>
              <a:t> </a:t>
            </a:r>
            <a:r>
              <a:rPr sz="1634" spc="-23" dirty="0">
                <a:latin typeface="Arial MT"/>
                <a:cs typeface="Arial MT"/>
              </a:rPr>
              <a:t>C++</a:t>
            </a:r>
            <a:endParaRPr sz="1634">
              <a:latin typeface="Arial MT"/>
              <a:cs typeface="Arial MT"/>
            </a:endParaRPr>
          </a:p>
          <a:p>
            <a:pPr marL="11527" marR="12679">
              <a:lnSpc>
                <a:spcPts val="1833"/>
              </a:lnSpc>
              <a:spcBef>
                <a:spcPts val="104"/>
              </a:spcBef>
            </a:pPr>
            <a:r>
              <a:rPr sz="1634" dirty="0">
                <a:latin typeface="Arial MT"/>
                <a:cs typeface="Arial MT"/>
              </a:rPr>
              <a:t>(Facebook</a:t>
            </a:r>
            <a:r>
              <a:rPr sz="1634" spc="-54" dirty="0">
                <a:latin typeface="Arial MT"/>
                <a:cs typeface="Arial MT"/>
              </a:rPr>
              <a:t> </a:t>
            </a:r>
            <a:r>
              <a:rPr sz="1634" spc="-45" dirty="0">
                <a:latin typeface="Arial MT"/>
                <a:cs typeface="Arial MT"/>
              </a:rPr>
              <a:t>/ </a:t>
            </a:r>
            <a:r>
              <a:rPr sz="1634" spc="-9" dirty="0">
                <a:latin typeface="Arial MT"/>
                <a:cs typeface="Arial MT"/>
              </a:rPr>
              <a:t>Hiphop)</a:t>
            </a:r>
            <a:endParaRPr sz="1634">
              <a:latin typeface="Arial MT"/>
              <a:cs typeface="Arial MT"/>
            </a:endParaRPr>
          </a:p>
        </p:txBody>
      </p:sp>
      <p:sp>
        <p:nvSpPr>
          <p:cNvPr id="17" name="object 17"/>
          <p:cNvSpPr/>
          <p:nvPr/>
        </p:nvSpPr>
        <p:spPr>
          <a:xfrm>
            <a:off x="1545515" y="2131166"/>
            <a:ext cx="1889120" cy="1022361"/>
          </a:xfrm>
          <a:custGeom>
            <a:avLst/>
            <a:gdLst/>
            <a:ahLst/>
            <a:cxnLst/>
            <a:rect l="l" t="t" r="r" b="b"/>
            <a:pathLst>
              <a:path w="2081530" h="1126489">
                <a:moveTo>
                  <a:pt x="2081530" y="0"/>
                </a:moveTo>
                <a:lnTo>
                  <a:pt x="0" y="0"/>
                </a:lnTo>
                <a:lnTo>
                  <a:pt x="0" y="1126490"/>
                </a:lnTo>
                <a:lnTo>
                  <a:pt x="2081530" y="1126490"/>
                </a:lnTo>
                <a:lnTo>
                  <a:pt x="2081530" y="0"/>
                </a:lnTo>
                <a:close/>
              </a:path>
            </a:pathLst>
          </a:custGeom>
          <a:solidFill>
            <a:srgbClr val="E5E5E5"/>
          </a:solidFill>
        </p:spPr>
        <p:txBody>
          <a:bodyPr wrap="square" lIns="0" tIns="0" rIns="0" bIns="0" rtlCol="0"/>
          <a:lstStyle/>
          <a:p>
            <a:endParaRPr sz="1634"/>
          </a:p>
        </p:txBody>
      </p:sp>
      <p:sp>
        <p:nvSpPr>
          <p:cNvPr id="18" name="object 18"/>
          <p:cNvSpPr txBox="1"/>
          <p:nvPr/>
        </p:nvSpPr>
        <p:spPr>
          <a:xfrm>
            <a:off x="1615825" y="2141539"/>
            <a:ext cx="1126671" cy="494253"/>
          </a:xfrm>
          <a:prstGeom prst="rect">
            <a:avLst/>
          </a:prstGeom>
        </p:spPr>
        <p:txBody>
          <a:bodyPr vert="horz" wrap="square" lIns="0" tIns="32273" rIns="0" bIns="0" rtlCol="0">
            <a:spAutoFit/>
          </a:bodyPr>
          <a:lstStyle/>
          <a:p>
            <a:pPr marL="11527" marR="4611">
              <a:lnSpc>
                <a:spcPts val="1833"/>
              </a:lnSpc>
              <a:spcBef>
                <a:spcPts val="254"/>
              </a:spcBef>
            </a:pPr>
            <a:r>
              <a:rPr sz="1634" spc="-9" dirty="0">
                <a:latin typeface="Arial MT"/>
                <a:cs typeface="Arial MT"/>
              </a:rPr>
              <a:t>Reverse Engineering</a:t>
            </a:r>
            <a:endParaRPr sz="1634">
              <a:latin typeface="Arial MT"/>
              <a:cs typeface="Arial MT"/>
            </a:endParaRPr>
          </a:p>
        </p:txBody>
      </p:sp>
      <p:sp>
        <p:nvSpPr>
          <p:cNvPr id="19" name="object 19"/>
          <p:cNvSpPr/>
          <p:nvPr/>
        </p:nvSpPr>
        <p:spPr>
          <a:xfrm>
            <a:off x="3434635" y="2131166"/>
            <a:ext cx="5235132" cy="1022361"/>
          </a:xfrm>
          <a:custGeom>
            <a:avLst/>
            <a:gdLst/>
            <a:ahLst/>
            <a:cxnLst/>
            <a:rect l="l" t="t" r="r" b="b"/>
            <a:pathLst>
              <a:path w="5768340" h="1126489">
                <a:moveTo>
                  <a:pt x="5768339" y="0"/>
                </a:moveTo>
                <a:lnTo>
                  <a:pt x="0" y="0"/>
                </a:lnTo>
                <a:lnTo>
                  <a:pt x="0" y="1126490"/>
                </a:lnTo>
                <a:lnTo>
                  <a:pt x="5768339" y="1126490"/>
                </a:lnTo>
                <a:lnTo>
                  <a:pt x="5768339" y="0"/>
                </a:lnTo>
                <a:close/>
              </a:path>
            </a:pathLst>
          </a:custGeom>
          <a:solidFill>
            <a:srgbClr val="E5E5E5"/>
          </a:solidFill>
        </p:spPr>
        <p:txBody>
          <a:bodyPr wrap="square" lIns="0" tIns="0" rIns="0" bIns="0" rtlCol="0"/>
          <a:lstStyle/>
          <a:p>
            <a:endParaRPr sz="1634"/>
          </a:p>
        </p:txBody>
      </p:sp>
      <p:sp>
        <p:nvSpPr>
          <p:cNvPr id="20" name="object 20"/>
          <p:cNvSpPr txBox="1"/>
          <p:nvPr/>
        </p:nvSpPr>
        <p:spPr>
          <a:xfrm>
            <a:off x="3504943" y="2141539"/>
            <a:ext cx="4975220" cy="494253"/>
          </a:xfrm>
          <a:prstGeom prst="rect">
            <a:avLst/>
          </a:prstGeom>
        </p:spPr>
        <p:txBody>
          <a:bodyPr vert="horz" wrap="square" lIns="0" tIns="32273" rIns="0" bIns="0" rtlCol="0">
            <a:spAutoFit/>
          </a:bodyPr>
          <a:lstStyle/>
          <a:p>
            <a:pPr marL="11527" marR="4611">
              <a:lnSpc>
                <a:spcPts val="1833"/>
              </a:lnSpc>
              <a:spcBef>
                <a:spcPts val="254"/>
              </a:spcBef>
              <a:tabLst>
                <a:tab pos="2565803" algn="l"/>
              </a:tabLst>
            </a:pPr>
            <a:r>
              <a:rPr sz="1634" dirty="0">
                <a:latin typeface="Arial MT"/>
                <a:cs typeface="Arial MT"/>
              </a:rPr>
              <a:t>Generating</a:t>
            </a:r>
            <a:r>
              <a:rPr sz="1634" spc="-64" dirty="0">
                <a:latin typeface="Arial MT"/>
                <a:cs typeface="Arial MT"/>
              </a:rPr>
              <a:t> </a:t>
            </a:r>
            <a:r>
              <a:rPr sz="1634" spc="-9" dirty="0">
                <a:latin typeface="Arial MT"/>
                <a:cs typeface="Arial MT"/>
              </a:rPr>
              <a:t>documentation</a:t>
            </a:r>
            <a:r>
              <a:rPr sz="1634" dirty="0">
                <a:latin typeface="Arial MT"/>
                <a:cs typeface="Arial MT"/>
              </a:rPr>
              <a:t>	(UML</a:t>
            </a:r>
            <a:r>
              <a:rPr sz="1634" spc="-68" dirty="0">
                <a:latin typeface="Arial MT"/>
                <a:cs typeface="Arial MT"/>
              </a:rPr>
              <a:t> </a:t>
            </a:r>
            <a:r>
              <a:rPr sz="1634" spc="-9" dirty="0">
                <a:latin typeface="Arial MT"/>
                <a:cs typeface="Arial MT"/>
              </a:rPr>
              <a:t>diagrams,</a:t>
            </a:r>
            <a:r>
              <a:rPr sz="1634" spc="-86" dirty="0">
                <a:latin typeface="Arial MT"/>
                <a:cs typeface="Arial MT"/>
              </a:rPr>
              <a:t> </a:t>
            </a:r>
            <a:r>
              <a:rPr sz="1634" dirty="0">
                <a:latin typeface="Arial MT"/>
                <a:cs typeface="Arial MT"/>
              </a:rPr>
              <a:t>API</a:t>
            </a:r>
            <a:r>
              <a:rPr sz="1634" spc="5" dirty="0">
                <a:latin typeface="Arial MT"/>
                <a:cs typeface="Arial MT"/>
              </a:rPr>
              <a:t> </a:t>
            </a:r>
            <a:r>
              <a:rPr sz="1634" spc="-9" dirty="0">
                <a:latin typeface="Arial MT"/>
                <a:cs typeface="Arial MT"/>
              </a:rPr>
              <a:t>docs, </a:t>
            </a:r>
            <a:r>
              <a:rPr sz="1634" spc="-18" dirty="0">
                <a:latin typeface="Arial MT"/>
                <a:cs typeface="Arial MT"/>
              </a:rPr>
              <a:t>etc)</a:t>
            </a:r>
            <a:endParaRPr sz="1634">
              <a:latin typeface="Arial MT"/>
              <a:cs typeface="Arial MT"/>
            </a:endParaRPr>
          </a:p>
        </p:txBody>
      </p:sp>
      <p:sp>
        <p:nvSpPr>
          <p:cNvPr id="21" name="object 21"/>
          <p:cNvSpPr txBox="1"/>
          <p:nvPr/>
        </p:nvSpPr>
        <p:spPr>
          <a:xfrm>
            <a:off x="3504943" y="2844629"/>
            <a:ext cx="5023053" cy="263118"/>
          </a:xfrm>
          <a:prstGeom prst="rect">
            <a:avLst/>
          </a:prstGeom>
        </p:spPr>
        <p:txBody>
          <a:bodyPr vert="horz" wrap="square" lIns="0" tIns="11526" rIns="0" bIns="0" rtlCol="0">
            <a:spAutoFit/>
          </a:bodyPr>
          <a:lstStyle/>
          <a:p>
            <a:pPr marL="11527">
              <a:spcBef>
                <a:spcPts val="91"/>
              </a:spcBef>
            </a:pPr>
            <a:r>
              <a:rPr sz="1634" b="1" dirty="0">
                <a:latin typeface="Arial"/>
                <a:cs typeface="Arial"/>
              </a:rPr>
              <a:t>(Mostly</a:t>
            </a:r>
            <a:r>
              <a:rPr sz="1634" b="1" spc="-50" dirty="0">
                <a:latin typeface="Arial"/>
                <a:cs typeface="Arial"/>
              </a:rPr>
              <a:t> </a:t>
            </a:r>
            <a:r>
              <a:rPr sz="1634" b="1" dirty="0">
                <a:latin typeface="Arial"/>
                <a:cs typeface="Arial"/>
              </a:rPr>
              <a:t>automated</a:t>
            </a:r>
            <a:r>
              <a:rPr sz="1634" b="1" spc="-23" dirty="0">
                <a:latin typeface="Arial"/>
                <a:cs typeface="Arial"/>
              </a:rPr>
              <a:t> </a:t>
            </a:r>
            <a:r>
              <a:rPr sz="1634" b="1" dirty="0">
                <a:latin typeface="Arial"/>
                <a:cs typeface="Arial"/>
              </a:rPr>
              <a:t>with</a:t>
            </a:r>
            <a:r>
              <a:rPr sz="1634" b="1" spc="-18" dirty="0">
                <a:latin typeface="Arial"/>
                <a:cs typeface="Arial"/>
              </a:rPr>
              <a:t> </a:t>
            </a:r>
            <a:r>
              <a:rPr sz="1634" b="1" dirty="0">
                <a:latin typeface="Arial"/>
                <a:cs typeface="Arial"/>
              </a:rPr>
              <a:t>some</a:t>
            </a:r>
            <a:r>
              <a:rPr sz="1634" b="1" spc="-32" dirty="0">
                <a:latin typeface="Arial"/>
                <a:cs typeface="Arial"/>
              </a:rPr>
              <a:t> </a:t>
            </a:r>
            <a:r>
              <a:rPr sz="1634" b="1" dirty="0">
                <a:latin typeface="Arial"/>
                <a:cs typeface="Arial"/>
              </a:rPr>
              <a:t>manual</a:t>
            </a:r>
            <a:r>
              <a:rPr sz="1634" b="1" spc="-23" dirty="0">
                <a:latin typeface="Arial"/>
                <a:cs typeface="Arial"/>
              </a:rPr>
              <a:t> </a:t>
            </a:r>
            <a:r>
              <a:rPr sz="1634" b="1" spc="-9" dirty="0">
                <a:latin typeface="Arial"/>
                <a:cs typeface="Arial"/>
              </a:rPr>
              <a:t>intervention)</a:t>
            </a:r>
            <a:endParaRPr sz="1634">
              <a:latin typeface="Arial"/>
              <a:cs typeface="Arial"/>
            </a:endParaRPr>
          </a:p>
        </p:txBody>
      </p:sp>
      <p:sp>
        <p:nvSpPr>
          <p:cNvPr id="22" name="object 22"/>
          <p:cNvSpPr/>
          <p:nvPr/>
        </p:nvSpPr>
        <p:spPr>
          <a:xfrm>
            <a:off x="8669766" y="2131166"/>
            <a:ext cx="1998617" cy="1022361"/>
          </a:xfrm>
          <a:custGeom>
            <a:avLst/>
            <a:gdLst/>
            <a:ahLst/>
            <a:cxnLst/>
            <a:rect l="l" t="t" r="r" b="b"/>
            <a:pathLst>
              <a:path w="2202179" h="1126489">
                <a:moveTo>
                  <a:pt x="2202180" y="0"/>
                </a:moveTo>
                <a:lnTo>
                  <a:pt x="0" y="0"/>
                </a:lnTo>
                <a:lnTo>
                  <a:pt x="0" y="1126490"/>
                </a:lnTo>
                <a:lnTo>
                  <a:pt x="2202180" y="1126490"/>
                </a:lnTo>
                <a:lnTo>
                  <a:pt x="2202180" y="0"/>
                </a:lnTo>
                <a:close/>
              </a:path>
            </a:pathLst>
          </a:custGeom>
          <a:solidFill>
            <a:srgbClr val="E5E5E5"/>
          </a:solidFill>
        </p:spPr>
        <p:txBody>
          <a:bodyPr wrap="square" lIns="0" tIns="0" rIns="0" bIns="0" rtlCol="0"/>
          <a:lstStyle/>
          <a:p>
            <a:endParaRPr sz="1634"/>
          </a:p>
        </p:txBody>
      </p:sp>
      <p:sp>
        <p:nvSpPr>
          <p:cNvPr id="23" name="object 23"/>
          <p:cNvSpPr txBox="1"/>
          <p:nvPr/>
        </p:nvSpPr>
        <p:spPr>
          <a:xfrm>
            <a:off x="8740076" y="2141540"/>
            <a:ext cx="1817082" cy="730052"/>
          </a:xfrm>
          <a:prstGeom prst="rect">
            <a:avLst/>
          </a:prstGeom>
        </p:spPr>
        <p:txBody>
          <a:bodyPr vert="horz" wrap="square" lIns="0" tIns="28238" rIns="0" bIns="0" rtlCol="0">
            <a:spAutoFit/>
          </a:bodyPr>
          <a:lstStyle/>
          <a:p>
            <a:pPr marL="11527" marR="4611">
              <a:lnSpc>
                <a:spcPct val="93300"/>
              </a:lnSpc>
              <a:spcBef>
                <a:spcPts val="221"/>
              </a:spcBef>
            </a:pPr>
            <a:r>
              <a:rPr sz="1634" dirty="0">
                <a:latin typeface="Arial MT"/>
                <a:cs typeface="Arial MT"/>
              </a:rPr>
              <a:t>Rational</a:t>
            </a:r>
            <a:r>
              <a:rPr sz="1634" spc="-50" dirty="0">
                <a:latin typeface="Arial MT"/>
                <a:cs typeface="Arial MT"/>
              </a:rPr>
              <a:t> </a:t>
            </a:r>
            <a:r>
              <a:rPr sz="1634" dirty="0">
                <a:latin typeface="Arial MT"/>
                <a:cs typeface="Arial MT"/>
              </a:rPr>
              <a:t>Rose,</a:t>
            </a:r>
            <a:r>
              <a:rPr sz="1634" spc="-41" dirty="0">
                <a:latin typeface="Arial MT"/>
                <a:cs typeface="Arial MT"/>
              </a:rPr>
              <a:t> </a:t>
            </a:r>
            <a:r>
              <a:rPr sz="1634" spc="-18" dirty="0">
                <a:latin typeface="Arial MT"/>
                <a:cs typeface="Arial MT"/>
              </a:rPr>
              <a:t>Star </a:t>
            </a:r>
            <a:r>
              <a:rPr sz="1634" dirty="0">
                <a:latin typeface="Arial MT"/>
                <a:cs typeface="Arial MT"/>
              </a:rPr>
              <a:t>UML,</a:t>
            </a:r>
            <a:r>
              <a:rPr sz="1634" spc="-27" dirty="0">
                <a:latin typeface="Arial MT"/>
                <a:cs typeface="Arial MT"/>
              </a:rPr>
              <a:t> </a:t>
            </a:r>
            <a:r>
              <a:rPr sz="1634" spc="-9" dirty="0">
                <a:latin typeface="Arial MT"/>
                <a:cs typeface="Arial MT"/>
              </a:rPr>
              <a:t>Javadocs, </a:t>
            </a:r>
            <a:r>
              <a:rPr sz="1634" dirty="0">
                <a:latin typeface="Arial MT"/>
                <a:cs typeface="Arial MT"/>
              </a:rPr>
              <a:t>Doxygen,</a:t>
            </a:r>
            <a:r>
              <a:rPr sz="1634" spc="-86" dirty="0">
                <a:latin typeface="Arial MT"/>
                <a:cs typeface="Arial MT"/>
              </a:rPr>
              <a:t> </a:t>
            </a:r>
            <a:r>
              <a:rPr sz="1634" spc="-18" dirty="0">
                <a:latin typeface="Arial MT"/>
                <a:cs typeface="Arial MT"/>
              </a:rPr>
              <a:t>etc.</a:t>
            </a:r>
            <a:endParaRPr sz="1634">
              <a:latin typeface="Arial MT"/>
              <a:cs typeface="Arial MT"/>
            </a:endParaRPr>
          </a:p>
        </p:txBody>
      </p:sp>
      <p:sp>
        <p:nvSpPr>
          <p:cNvPr id="24" name="object 24"/>
          <p:cNvSpPr/>
          <p:nvPr/>
        </p:nvSpPr>
        <p:spPr>
          <a:xfrm>
            <a:off x="1545515" y="3153527"/>
            <a:ext cx="1889120" cy="1255187"/>
          </a:xfrm>
          <a:custGeom>
            <a:avLst/>
            <a:gdLst/>
            <a:ahLst/>
            <a:cxnLst/>
            <a:rect l="l" t="t" r="r" b="b"/>
            <a:pathLst>
              <a:path w="2081530" h="1383029">
                <a:moveTo>
                  <a:pt x="2081530" y="0"/>
                </a:moveTo>
                <a:lnTo>
                  <a:pt x="0" y="0"/>
                </a:lnTo>
                <a:lnTo>
                  <a:pt x="0" y="1383029"/>
                </a:lnTo>
                <a:lnTo>
                  <a:pt x="2081530" y="1383029"/>
                </a:lnTo>
                <a:lnTo>
                  <a:pt x="2081530" y="0"/>
                </a:lnTo>
                <a:close/>
              </a:path>
            </a:pathLst>
          </a:custGeom>
          <a:solidFill>
            <a:srgbClr val="CCCCCC"/>
          </a:solidFill>
        </p:spPr>
        <p:txBody>
          <a:bodyPr wrap="square" lIns="0" tIns="0" rIns="0" bIns="0" rtlCol="0"/>
          <a:lstStyle/>
          <a:p>
            <a:endParaRPr sz="1634"/>
          </a:p>
        </p:txBody>
      </p:sp>
      <p:sp>
        <p:nvSpPr>
          <p:cNvPr id="25" name="object 25"/>
          <p:cNvSpPr txBox="1"/>
          <p:nvPr/>
        </p:nvSpPr>
        <p:spPr>
          <a:xfrm>
            <a:off x="1615824" y="3163901"/>
            <a:ext cx="1681651" cy="730052"/>
          </a:xfrm>
          <a:prstGeom prst="rect">
            <a:avLst/>
          </a:prstGeom>
        </p:spPr>
        <p:txBody>
          <a:bodyPr vert="horz" wrap="square" lIns="0" tIns="28238" rIns="0" bIns="0" rtlCol="0">
            <a:spAutoFit/>
          </a:bodyPr>
          <a:lstStyle/>
          <a:p>
            <a:pPr marL="11527" marR="4611">
              <a:lnSpc>
                <a:spcPct val="93300"/>
              </a:lnSpc>
              <a:spcBef>
                <a:spcPts val="221"/>
              </a:spcBef>
            </a:pPr>
            <a:r>
              <a:rPr sz="1634" dirty="0">
                <a:latin typeface="Arial MT"/>
                <a:cs typeface="Arial MT"/>
              </a:rPr>
              <a:t>Program</a:t>
            </a:r>
            <a:r>
              <a:rPr sz="1634" spc="-27" dirty="0">
                <a:latin typeface="Arial MT"/>
                <a:cs typeface="Arial MT"/>
              </a:rPr>
              <a:t> </a:t>
            </a:r>
            <a:r>
              <a:rPr sz="1634" spc="-9" dirty="0">
                <a:latin typeface="Arial MT"/>
                <a:cs typeface="Arial MT"/>
              </a:rPr>
              <a:t>structure improvement (Refactoring)</a:t>
            </a:r>
            <a:endParaRPr sz="1634">
              <a:latin typeface="Arial MT"/>
              <a:cs typeface="Arial MT"/>
            </a:endParaRPr>
          </a:p>
        </p:txBody>
      </p:sp>
      <p:sp>
        <p:nvSpPr>
          <p:cNvPr id="26" name="object 26"/>
          <p:cNvSpPr/>
          <p:nvPr/>
        </p:nvSpPr>
        <p:spPr>
          <a:xfrm>
            <a:off x="3434635" y="3153527"/>
            <a:ext cx="5235132" cy="1255187"/>
          </a:xfrm>
          <a:custGeom>
            <a:avLst/>
            <a:gdLst/>
            <a:ahLst/>
            <a:cxnLst/>
            <a:rect l="l" t="t" r="r" b="b"/>
            <a:pathLst>
              <a:path w="5768340" h="1383029">
                <a:moveTo>
                  <a:pt x="5768339" y="0"/>
                </a:moveTo>
                <a:lnTo>
                  <a:pt x="0" y="0"/>
                </a:lnTo>
                <a:lnTo>
                  <a:pt x="0" y="1383029"/>
                </a:lnTo>
                <a:lnTo>
                  <a:pt x="5768339" y="1383029"/>
                </a:lnTo>
                <a:lnTo>
                  <a:pt x="5768339" y="0"/>
                </a:lnTo>
                <a:close/>
              </a:path>
            </a:pathLst>
          </a:custGeom>
          <a:solidFill>
            <a:srgbClr val="CCCCCC"/>
          </a:solidFill>
        </p:spPr>
        <p:txBody>
          <a:bodyPr wrap="square" lIns="0" tIns="0" rIns="0" bIns="0" rtlCol="0"/>
          <a:lstStyle/>
          <a:p>
            <a:endParaRPr sz="1634"/>
          </a:p>
        </p:txBody>
      </p:sp>
      <p:sp>
        <p:nvSpPr>
          <p:cNvPr id="27" name="object 27"/>
          <p:cNvSpPr txBox="1"/>
          <p:nvPr/>
        </p:nvSpPr>
        <p:spPr>
          <a:xfrm>
            <a:off x="3504943" y="3163901"/>
            <a:ext cx="4949286" cy="494253"/>
          </a:xfrm>
          <a:prstGeom prst="rect">
            <a:avLst/>
          </a:prstGeom>
        </p:spPr>
        <p:txBody>
          <a:bodyPr vert="horz" wrap="square" lIns="0" tIns="32273" rIns="0" bIns="0" rtlCol="0">
            <a:spAutoFit/>
          </a:bodyPr>
          <a:lstStyle/>
          <a:p>
            <a:pPr marL="11527" marR="4611">
              <a:lnSpc>
                <a:spcPts val="1833"/>
              </a:lnSpc>
              <a:spcBef>
                <a:spcPts val="254"/>
              </a:spcBef>
            </a:pPr>
            <a:r>
              <a:rPr sz="1634" dirty="0">
                <a:latin typeface="Arial MT"/>
                <a:cs typeface="Arial MT"/>
              </a:rPr>
              <a:t>Modifications</a:t>
            </a:r>
            <a:r>
              <a:rPr sz="1634" spc="-36" dirty="0">
                <a:latin typeface="Arial MT"/>
                <a:cs typeface="Arial MT"/>
              </a:rPr>
              <a:t> </a:t>
            </a:r>
            <a:r>
              <a:rPr sz="1634" dirty="0">
                <a:latin typeface="Arial MT"/>
                <a:cs typeface="Arial MT"/>
              </a:rPr>
              <a:t>to</a:t>
            </a:r>
            <a:r>
              <a:rPr sz="1634" spc="-32" dirty="0">
                <a:latin typeface="Arial MT"/>
                <a:cs typeface="Arial MT"/>
              </a:rPr>
              <a:t> </a:t>
            </a:r>
            <a:r>
              <a:rPr sz="1634" dirty="0">
                <a:latin typeface="Arial MT"/>
                <a:cs typeface="Arial MT"/>
              </a:rPr>
              <a:t>the</a:t>
            </a:r>
            <a:r>
              <a:rPr sz="1634" spc="-36" dirty="0">
                <a:latin typeface="Arial MT"/>
                <a:cs typeface="Arial MT"/>
              </a:rPr>
              <a:t> </a:t>
            </a:r>
            <a:r>
              <a:rPr sz="1634" dirty="0">
                <a:latin typeface="Arial MT"/>
                <a:cs typeface="Arial MT"/>
              </a:rPr>
              <a:t>code</a:t>
            </a:r>
            <a:r>
              <a:rPr sz="1634" spc="-32" dirty="0">
                <a:latin typeface="Arial MT"/>
                <a:cs typeface="Arial MT"/>
              </a:rPr>
              <a:t> </a:t>
            </a:r>
            <a:r>
              <a:rPr sz="1634" dirty="0">
                <a:latin typeface="Arial MT"/>
                <a:cs typeface="Arial MT"/>
              </a:rPr>
              <a:t>(e.g.</a:t>
            </a:r>
            <a:r>
              <a:rPr sz="1634" spc="-27" dirty="0">
                <a:latin typeface="Arial MT"/>
                <a:cs typeface="Arial MT"/>
              </a:rPr>
              <a:t> </a:t>
            </a:r>
            <a:r>
              <a:rPr sz="1634" dirty="0">
                <a:latin typeface="Arial MT"/>
                <a:cs typeface="Arial MT"/>
              </a:rPr>
              <a:t>control</a:t>
            </a:r>
            <a:r>
              <a:rPr sz="1634" spc="-27" dirty="0">
                <a:latin typeface="Arial MT"/>
                <a:cs typeface="Arial MT"/>
              </a:rPr>
              <a:t> </a:t>
            </a:r>
            <a:r>
              <a:rPr sz="1634" dirty="0">
                <a:latin typeface="Arial MT"/>
                <a:cs typeface="Arial MT"/>
              </a:rPr>
              <a:t>structures,</a:t>
            </a:r>
            <a:r>
              <a:rPr sz="1634" spc="-23" dirty="0">
                <a:latin typeface="Arial MT"/>
                <a:cs typeface="Arial MT"/>
              </a:rPr>
              <a:t> </a:t>
            </a:r>
            <a:r>
              <a:rPr sz="1634" spc="-18" dirty="0">
                <a:latin typeface="Arial MT"/>
                <a:cs typeface="Arial MT"/>
              </a:rPr>
              <a:t>data </a:t>
            </a:r>
            <a:r>
              <a:rPr sz="1634" dirty="0">
                <a:latin typeface="Arial MT"/>
                <a:cs typeface="Arial MT"/>
              </a:rPr>
              <a:t>structures,</a:t>
            </a:r>
            <a:r>
              <a:rPr sz="1634" spc="-41" dirty="0">
                <a:latin typeface="Arial MT"/>
                <a:cs typeface="Arial MT"/>
              </a:rPr>
              <a:t> </a:t>
            </a:r>
            <a:r>
              <a:rPr sz="1634" spc="-18" dirty="0">
                <a:latin typeface="Arial MT"/>
                <a:cs typeface="Arial MT"/>
              </a:rPr>
              <a:t>etc.)</a:t>
            </a:r>
            <a:endParaRPr sz="1634">
              <a:latin typeface="Arial MT"/>
              <a:cs typeface="Arial MT"/>
            </a:endParaRPr>
          </a:p>
        </p:txBody>
      </p:sp>
      <p:sp>
        <p:nvSpPr>
          <p:cNvPr id="28" name="object 28"/>
          <p:cNvSpPr txBox="1"/>
          <p:nvPr/>
        </p:nvSpPr>
        <p:spPr>
          <a:xfrm>
            <a:off x="3504943" y="4099816"/>
            <a:ext cx="3737898" cy="263118"/>
          </a:xfrm>
          <a:prstGeom prst="rect">
            <a:avLst/>
          </a:prstGeom>
        </p:spPr>
        <p:txBody>
          <a:bodyPr vert="horz" wrap="square" lIns="0" tIns="11526" rIns="0" bIns="0" rtlCol="0">
            <a:spAutoFit/>
          </a:bodyPr>
          <a:lstStyle/>
          <a:p>
            <a:pPr marL="11527">
              <a:spcBef>
                <a:spcPts val="91"/>
              </a:spcBef>
            </a:pPr>
            <a:r>
              <a:rPr sz="1634" b="1" dirty="0">
                <a:latin typeface="Arial"/>
                <a:cs typeface="Arial"/>
              </a:rPr>
              <a:t>(Manual</a:t>
            </a:r>
            <a:r>
              <a:rPr sz="1634" b="1" spc="-18" dirty="0">
                <a:latin typeface="Arial"/>
                <a:cs typeface="Arial"/>
              </a:rPr>
              <a:t> </a:t>
            </a:r>
            <a:r>
              <a:rPr sz="1634" b="1" dirty="0">
                <a:latin typeface="Arial"/>
                <a:cs typeface="Arial"/>
              </a:rPr>
              <a:t>as</a:t>
            </a:r>
            <a:r>
              <a:rPr sz="1634" b="1" spc="-27" dirty="0">
                <a:latin typeface="Arial"/>
                <a:cs typeface="Arial"/>
              </a:rPr>
              <a:t> </a:t>
            </a:r>
            <a:r>
              <a:rPr sz="1634" b="1" dirty="0">
                <a:latin typeface="Arial"/>
                <a:cs typeface="Arial"/>
              </a:rPr>
              <a:t>well</a:t>
            </a:r>
            <a:r>
              <a:rPr sz="1634" b="1" spc="-18" dirty="0">
                <a:latin typeface="Arial"/>
                <a:cs typeface="Arial"/>
              </a:rPr>
              <a:t> </a:t>
            </a:r>
            <a:r>
              <a:rPr sz="1634" b="1" dirty="0">
                <a:latin typeface="Arial"/>
                <a:cs typeface="Arial"/>
              </a:rPr>
              <a:t>as</a:t>
            </a:r>
            <a:r>
              <a:rPr sz="1634" b="1" spc="-23" dirty="0">
                <a:latin typeface="Arial"/>
                <a:cs typeface="Arial"/>
              </a:rPr>
              <a:t> </a:t>
            </a:r>
            <a:r>
              <a:rPr sz="1634" b="1" dirty="0">
                <a:latin typeface="Arial"/>
                <a:cs typeface="Arial"/>
              </a:rPr>
              <a:t>IDE</a:t>
            </a:r>
            <a:r>
              <a:rPr sz="1634" b="1" spc="-18" dirty="0">
                <a:latin typeface="Arial"/>
                <a:cs typeface="Arial"/>
              </a:rPr>
              <a:t> </a:t>
            </a:r>
            <a:r>
              <a:rPr sz="1634" b="1" dirty="0">
                <a:latin typeface="Arial"/>
                <a:cs typeface="Arial"/>
              </a:rPr>
              <a:t>/</a:t>
            </a:r>
            <a:r>
              <a:rPr sz="1634" b="1" spc="-27" dirty="0">
                <a:latin typeface="Arial"/>
                <a:cs typeface="Arial"/>
              </a:rPr>
              <a:t> </a:t>
            </a:r>
            <a:r>
              <a:rPr sz="1634" b="1" spc="-18" dirty="0">
                <a:latin typeface="Arial"/>
                <a:cs typeface="Arial"/>
              </a:rPr>
              <a:t>Tool</a:t>
            </a:r>
            <a:r>
              <a:rPr sz="1634" b="1" spc="-23" dirty="0">
                <a:latin typeface="Arial"/>
                <a:cs typeface="Arial"/>
              </a:rPr>
              <a:t> </a:t>
            </a:r>
            <a:r>
              <a:rPr sz="1634" b="1" spc="-9" dirty="0">
                <a:latin typeface="Arial"/>
                <a:cs typeface="Arial"/>
              </a:rPr>
              <a:t>support)</a:t>
            </a:r>
            <a:endParaRPr sz="1634">
              <a:latin typeface="Arial"/>
              <a:cs typeface="Arial"/>
            </a:endParaRPr>
          </a:p>
        </p:txBody>
      </p:sp>
      <p:sp>
        <p:nvSpPr>
          <p:cNvPr id="29" name="object 29"/>
          <p:cNvSpPr/>
          <p:nvPr/>
        </p:nvSpPr>
        <p:spPr>
          <a:xfrm>
            <a:off x="8669766" y="3153527"/>
            <a:ext cx="1998617" cy="1255187"/>
          </a:xfrm>
          <a:custGeom>
            <a:avLst/>
            <a:gdLst/>
            <a:ahLst/>
            <a:cxnLst/>
            <a:rect l="l" t="t" r="r" b="b"/>
            <a:pathLst>
              <a:path w="2202179" h="1383029">
                <a:moveTo>
                  <a:pt x="2202180" y="0"/>
                </a:moveTo>
                <a:lnTo>
                  <a:pt x="0" y="0"/>
                </a:lnTo>
                <a:lnTo>
                  <a:pt x="0" y="1383029"/>
                </a:lnTo>
                <a:lnTo>
                  <a:pt x="2202180" y="1383029"/>
                </a:lnTo>
                <a:lnTo>
                  <a:pt x="2202180" y="0"/>
                </a:lnTo>
                <a:close/>
              </a:path>
            </a:pathLst>
          </a:custGeom>
          <a:solidFill>
            <a:srgbClr val="CCCCCC"/>
          </a:solidFill>
        </p:spPr>
        <p:txBody>
          <a:bodyPr wrap="square" lIns="0" tIns="0" rIns="0" bIns="0" rtlCol="0"/>
          <a:lstStyle/>
          <a:p>
            <a:endParaRPr sz="1634"/>
          </a:p>
        </p:txBody>
      </p:sp>
      <p:sp>
        <p:nvSpPr>
          <p:cNvPr id="30" name="object 30"/>
          <p:cNvSpPr txBox="1"/>
          <p:nvPr/>
        </p:nvSpPr>
        <p:spPr>
          <a:xfrm>
            <a:off x="8740076" y="3163901"/>
            <a:ext cx="1757145" cy="1197164"/>
          </a:xfrm>
          <a:prstGeom prst="rect">
            <a:avLst/>
          </a:prstGeom>
        </p:spPr>
        <p:txBody>
          <a:bodyPr vert="horz" wrap="square" lIns="0" tIns="27663" rIns="0" bIns="0" rtlCol="0">
            <a:spAutoFit/>
          </a:bodyPr>
          <a:lstStyle/>
          <a:p>
            <a:pPr marL="11527" marR="4611">
              <a:lnSpc>
                <a:spcPct val="93400"/>
              </a:lnSpc>
              <a:spcBef>
                <a:spcPts val="218"/>
              </a:spcBef>
            </a:pPr>
            <a:r>
              <a:rPr sz="1634" dirty="0">
                <a:latin typeface="Arial MT"/>
                <a:cs typeface="Arial MT"/>
              </a:rPr>
              <a:t>Rename</a:t>
            </a:r>
            <a:r>
              <a:rPr sz="1634" spc="-54" dirty="0">
                <a:latin typeface="Arial MT"/>
                <a:cs typeface="Arial MT"/>
              </a:rPr>
              <a:t> </a:t>
            </a:r>
            <a:r>
              <a:rPr sz="1634" spc="-9" dirty="0">
                <a:latin typeface="Arial MT"/>
                <a:cs typeface="Arial MT"/>
              </a:rPr>
              <a:t>Method, </a:t>
            </a:r>
            <a:r>
              <a:rPr sz="1634" dirty="0">
                <a:latin typeface="Arial MT"/>
                <a:cs typeface="Arial MT"/>
              </a:rPr>
              <a:t>Extract</a:t>
            </a:r>
            <a:r>
              <a:rPr sz="1634" spc="-36" dirty="0">
                <a:latin typeface="Arial MT"/>
                <a:cs typeface="Arial MT"/>
              </a:rPr>
              <a:t> </a:t>
            </a:r>
            <a:r>
              <a:rPr sz="1634" spc="-9" dirty="0">
                <a:latin typeface="Arial MT"/>
                <a:cs typeface="Arial MT"/>
              </a:rPr>
              <a:t>Method, Replace </a:t>
            </a:r>
            <a:r>
              <a:rPr sz="1634" dirty="0">
                <a:latin typeface="Arial MT"/>
                <a:cs typeface="Arial MT"/>
              </a:rPr>
              <a:t>conditionals</a:t>
            </a:r>
            <a:r>
              <a:rPr sz="1634" spc="-68" dirty="0">
                <a:latin typeface="Arial MT"/>
                <a:cs typeface="Arial MT"/>
              </a:rPr>
              <a:t> </a:t>
            </a:r>
            <a:r>
              <a:rPr sz="1634" spc="-18" dirty="0">
                <a:latin typeface="Arial MT"/>
                <a:cs typeface="Arial MT"/>
              </a:rPr>
              <a:t>with </a:t>
            </a:r>
            <a:r>
              <a:rPr sz="1634" dirty="0">
                <a:latin typeface="Arial MT"/>
                <a:cs typeface="Arial MT"/>
              </a:rPr>
              <a:t>polymorphism,</a:t>
            </a:r>
            <a:r>
              <a:rPr sz="1634" spc="-109" dirty="0">
                <a:latin typeface="Arial MT"/>
                <a:cs typeface="Arial MT"/>
              </a:rPr>
              <a:t> </a:t>
            </a:r>
            <a:r>
              <a:rPr sz="1634" spc="-18" dirty="0">
                <a:latin typeface="Arial MT"/>
                <a:cs typeface="Arial MT"/>
              </a:rPr>
              <a:t>etc.</a:t>
            </a:r>
            <a:endParaRPr sz="1634">
              <a:latin typeface="Arial MT"/>
              <a:cs typeface="Arial MT"/>
            </a:endParaRPr>
          </a:p>
        </p:txBody>
      </p:sp>
      <p:sp>
        <p:nvSpPr>
          <p:cNvPr id="31" name="object 31"/>
          <p:cNvSpPr/>
          <p:nvPr/>
        </p:nvSpPr>
        <p:spPr>
          <a:xfrm>
            <a:off x="1545515" y="4408714"/>
            <a:ext cx="1889120" cy="1479945"/>
          </a:xfrm>
          <a:custGeom>
            <a:avLst/>
            <a:gdLst/>
            <a:ahLst/>
            <a:cxnLst/>
            <a:rect l="l" t="t" r="r" b="b"/>
            <a:pathLst>
              <a:path w="2081530" h="1630679">
                <a:moveTo>
                  <a:pt x="2081530" y="0"/>
                </a:moveTo>
                <a:lnTo>
                  <a:pt x="0" y="0"/>
                </a:lnTo>
                <a:lnTo>
                  <a:pt x="0" y="1630680"/>
                </a:lnTo>
                <a:lnTo>
                  <a:pt x="2081530" y="1630680"/>
                </a:lnTo>
                <a:lnTo>
                  <a:pt x="2081530" y="0"/>
                </a:lnTo>
                <a:close/>
              </a:path>
            </a:pathLst>
          </a:custGeom>
          <a:solidFill>
            <a:srgbClr val="E5E5E5"/>
          </a:solidFill>
        </p:spPr>
        <p:txBody>
          <a:bodyPr wrap="square" lIns="0" tIns="0" rIns="0" bIns="0" rtlCol="0"/>
          <a:lstStyle/>
          <a:p>
            <a:endParaRPr sz="1634"/>
          </a:p>
        </p:txBody>
      </p:sp>
      <p:sp>
        <p:nvSpPr>
          <p:cNvPr id="32" name="object 32"/>
          <p:cNvSpPr txBox="1"/>
          <p:nvPr/>
        </p:nvSpPr>
        <p:spPr>
          <a:xfrm>
            <a:off x="1615825" y="4417934"/>
            <a:ext cx="1367566" cy="494834"/>
          </a:xfrm>
          <a:prstGeom prst="rect">
            <a:avLst/>
          </a:prstGeom>
        </p:spPr>
        <p:txBody>
          <a:bodyPr vert="horz" wrap="square" lIns="0" tIns="32848" rIns="0" bIns="0" rtlCol="0">
            <a:spAutoFit/>
          </a:bodyPr>
          <a:lstStyle/>
          <a:p>
            <a:pPr marL="11527" marR="4611">
              <a:lnSpc>
                <a:spcPts val="1833"/>
              </a:lnSpc>
              <a:spcBef>
                <a:spcPts val="258"/>
              </a:spcBef>
            </a:pPr>
            <a:r>
              <a:rPr sz="1634" spc="-9" dirty="0">
                <a:latin typeface="Arial MT"/>
                <a:cs typeface="Arial MT"/>
              </a:rPr>
              <a:t>Program modularization</a:t>
            </a:r>
            <a:endParaRPr sz="1634">
              <a:latin typeface="Arial MT"/>
              <a:cs typeface="Arial MT"/>
            </a:endParaRPr>
          </a:p>
        </p:txBody>
      </p:sp>
      <p:sp>
        <p:nvSpPr>
          <p:cNvPr id="33" name="object 33"/>
          <p:cNvSpPr/>
          <p:nvPr/>
        </p:nvSpPr>
        <p:spPr>
          <a:xfrm>
            <a:off x="3434635" y="4408714"/>
            <a:ext cx="5235132" cy="1479945"/>
          </a:xfrm>
          <a:custGeom>
            <a:avLst/>
            <a:gdLst/>
            <a:ahLst/>
            <a:cxnLst/>
            <a:rect l="l" t="t" r="r" b="b"/>
            <a:pathLst>
              <a:path w="5768340" h="1630679">
                <a:moveTo>
                  <a:pt x="5768339" y="0"/>
                </a:moveTo>
                <a:lnTo>
                  <a:pt x="0" y="0"/>
                </a:lnTo>
                <a:lnTo>
                  <a:pt x="0" y="1630680"/>
                </a:lnTo>
                <a:lnTo>
                  <a:pt x="5768339" y="1630680"/>
                </a:lnTo>
                <a:lnTo>
                  <a:pt x="5768339" y="0"/>
                </a:lnTo>
                <a:close/>
              </a:path>
            </a:pathLst>
          </a:custGeom>
          <a:solidFill>
            <a:srgbClr val="E5E5E5"/>
          </a:solidFill>
        </p:spPr>
        <p:txBody>
          <a:bodyPr wrap="square" lIns="0" tIns="0" rIns="0" bIns="0" rtlCol="0"/>
          <a:lstStyle/>
          <a:p>
            <a:endParaRPr sz="1634"/>
          </a:p>
        </p:txBody>
      </p:sp>
      <p:sp>
        <p:nvSpPr>
          <p:cNvPr id="34" name="object 34"/>
          <p:cNvSpPr txBox="1"/>
          <p:nvPr/>
        </p:nvSpPr>
        <p:spPr>
          <a:xfrm>
            <a:off x="3504943" y="4417935"/>
            <a:ext cx="4957354" cy="725666"/>
          </a:xfrm>
          <a:prstGeom prst="rect">
            <a:avLst/>
          </a:prstGeom>
        </p:spPr>
        <p:txBody>
          <a:bodyPr vert="horz" wrap="square" lIns="0" tIns="32848" rIns="0" bIns="0" rtlCol="0">
            <a:spAutoFit/>
          </a:bodyPr>
          <a:lstStyle/>
          <a:p>
            <a:pPr marL="11527" marR="4611">
              <a:lnSpc>
                <a:spcPts val="1833"/>
              </a:lnSpc>
              <a:spcBef>
                <a:spcPts val="258"/>
              </a:spcBef>
              <a:tabLst>
                <a:tab pos="1460410" algn="l"/>
              </a:tabLst>
            </a:pPr>
            <a:r>
              <a:rPr sz="1634" dirty="0">
                <a:latin typeface="Arial MT"/>
                <a:cs typeface="Arial MT"/>
              </a:rPr>
              <a:t>Mostly</a:t>
            </a:r>
            <a:r>
              <a:rPr sz="1634" spc="-54" dirty="0">
                <a:latin typeface="Arial MT"/>
                <a:cs typeface="Arial MT"/>
              </a:rPr>
              <a:t> </a:t>
            </a:r>
            <a:r>
              <a:rPr sz="1634" dirty="0">
                <a:latin typeface="Arial MT"/>
                <a:cs typeface="Arial MT"/>
              </a:rPr>
              <a:t>changes</a:t>
            </a:r>
            <a:r>
              <a:rPr sz="1634" spc="-32" dirty="0">
                <a:latin typeface="Arial MT"/>
                <a:cs typeface="Arial MT"/>
              </a:rPr>
              <a:t> </a:t>
            </a:r>
            <a:r>
              <a:rPr sz="1634" dirty="0">
                <a:latin typeface="Arial MT"/>
                <a:cs typeface="Arial MT"/>
              </a:rPr>
              <a:t>at</a:t>
            </a:r>
            <a:r>
              <a:rPr sz="1634" spc="-18" dirty="0">
                <a:latin typeface="Arial MT"/>
                <a:cs typeface="Arial MT"/>
              </a:rPr>
              <a:t> </a:t>
            </a:r>
            <a:r>
              <a:rPr sz="1634" dirty="0">
                <a:latin typeface="Arial MT"/>
                <a:cs typeface="Arial MT"/>
              </a:rPr>
              <a:t>the</a:t>
            </a:r>
            <a:r>
              <a:rPr sz="1634" spc="-27" dirty="0">
                <a:latin typeface="Arial MT"/>
                <a:cs typeface="Arial MT"/>
              </a:rPr>
              <a:t> </a:t>
            </a:r>
            <a:r>
              <a:rPr sz="1634" dirty="0">
                <a:latin typeface="Arial MT"/>
                <a:cs typeface="Arial MT"/>
              </a:rPr>
              <a:t>architecture</a:t>
            </a:r>
            <a:r>
              <a:rPr sz="1634" spc="-18" dirty="0">
                <a:latin typeface="Arial MT"/>
                <a:cs typeface="Arial MT"/>
              </a:rPr>
              <a:t> </a:t>
            </a:r>
            <a:r>
              <a:rPr sz="1634" dirty="0">
                <a:latin typeface="Arial MT"/>
                <a:cs typeface="Arial MT"/>
              </a:rPr>
              <a:t>and</a:t>
            </a:r>
            <a:r>
              <a:rPr sz="1634" spc="-27" dirty="0">
                <a:latin typeface="Arial MT"/>
                <a:cs typeface="Arial MT"/>
              </a:rPr>
              <a:t> </a:t>
            </a:r>
            <a:r>
              <a:rPr sz="1634" dirty="0">
                <a:latin typeface="Arial MT"/>
                <a:cs typeface="Arial MT"/>
              </a:rPr>
              <a:t>design</a:t>
            </a:r>
            <a:r>
              <a:rPr sz="1634" spc="-27" dirty="0">
                <a:latin typeface="Arial MT"/>
                <a:cs typeface="Arial MT"/>
              </a:rPr>
              <a:t> </a:t>
            </a:r>
            <a:r>
              <a:rPr sz="1634" dirty="0">
                <a:latin typeface="Arial MT"/>
                <a:cs typeface="Arial MT"/>
              </a:rPr>
              <a:t>level</a:t>
            </a:r>
            <a:r>
              <a:rPr sz="1634" spc="-27" dirty="0">
                <a:latin typeface="Arial MT"/>
                <a:cs typeface="Arial MT"/>
              </a:rPr>
              <a:t> </a:t>
            </a:r>
            <a:r>
              <a:rPr sz="1634" spc="-23" dirty="0">
                <a:latin typeface="Arial MT"/>
                <a:cs typeface="Arial MT"/>
              </a:rPr>
              <a:t>to </a:t>
            </a:r>
            <a:r>
              <a:rPr sz="1634" dirty="0">
                <a:latin typeface="Arial MT"/>
                <a:cs typeface="Arial MT"/>
              </a:rPr>
              <a:t>remove</a:t>
            </a:r>
            <a:r>
              <a:rPr sz="1634" spc="-64" dirty="0">
                <a:latin typeface="Arial MT"/>
                <a:cs typeface="Arial MT"/>
              </a:rPr>
              <a:t> </a:t>
            </a:r>
            <a:r>
              <a:rPr sz="1634" spc="-9" dirty="0">
                <a:latin typeface="Arial MT"/>
                <a:cs typeface="Arial MT"/>
              </a:rPr>
              <a:t>redundancy,</a:t>
            </a:r>
            <a:r>
              <a:rPr sz="1634" spc="-50" dirty="0">
                <a:latin typeface="Arial MT"/>
                <a:cs typeface="Arial MT"/>
              </a:rPr>
              <a:t> </a:t>
            </a:r>
            <a:r>
              <a:rPr sz="1634" dirty="0">
                <a:latin typeface="Arial MT"/>
                <a:cs typeface="Arial MT"/>
              </a:rPr>
              <a:t>improve</a:t>
            </a:r>
            <a:r>
              <a:rPr sz="1634" spc="-59" dirty="0">
                <a:latin typeface="Arial MT"/>
                <a:cs typeface="Arial MT"/>
              </a:rPr>
              <a:t> </a:t>
            </a:r>
            <a:r>
              <a:rPr sz="1634" dirty="0">
                <a:latin typeface="Arial MT"/>
                <a:cs typeface="Arial MT"/>
              </a:rPr>
              <a:t>abstraction</a:t>
            </a:r>
            <a:r>
              <a:rPr sz="1634" spc="-50" dirty="0">
                <a:latin typeface="Arial MT"/>
                <a:cs typeface="Arial MT"/>
              </a:rPr>
              <a:t> </a:t>
            </a:r>
            <a:r>
              <a:rPr sz="1634" spc="-45" dirty="0">
                <a:latin typeface="Arial MT"/>
                <a:cs typeface="Arial MT"/>
              </a:rPr>
              <a:t>/ </a:t>
            </a:r>
            <a:r>
              <a:rPr sz="1634" spc="-9" dirty="0">
                <a:latin typeface="Arial MT"/>
                <a:cs typeface="Arial MT"/>
              </a:rPr>
              <a:t>encapsulation,</a:t>
            </a:r>
            <a:r>
              <a:rPr sz="1634" dirty="0">
                <a:latin typeface="Arial MT"/>
                <a:cs typeface="Arial MT"/>
              </a:rPr>
              <a:t>	</a:t>
            </a:r>
            <a:r>
              <a:rPr sz="1634" spc="-18" dirty="0">
                <a:latin typeface="Arial MT"/>
                <a:cs typeface="Arial MT"/>
              </a:rPr>
              <a:t>etc.</a:t>
            </a:r>
            <a:endParaRPr sz="1634">
              <a:latin typeface="Arial MT"/>
              <a:cs typeface="Arial MT"/>
            </a:endParaRPr>
          </a:p>
        </p:txBody>
      </p:sp>
      <p:sp>
        <p:nvSpPr>
          <p:cNvPr id="35" name="object 35"/>
          <p:cNvSpPr txBox="1"/>
          <p:nvPr/>
        </p:nvSpPr>
        <p:spPr>
          <a:xfrm>
            <a:off x="3504943" y="5353851"/>
            <a:ext cx="3223259" cy="263118"/>
          </a:xfrm>
          <a:prstGeom prst="rect">
            <a:avLst/>
          </a:prstGeom>
        </p:spPr>
        <p:txBody>
          <a:bodyPr vert="horz" wrap="square" lIns="0" tIns="11526" rIns="0" bIns="0" rtlCol="0">
            <a:spAutoFit/>
          </a:bodyPr>
          <a:lstStyle/>
          <a:p>
            <a:pPr marL="11527">
              <a:spcBef>
                <a:spcPts val="91"/>
              </a:spcBef>
            </a:pPr>
            <a:r>
              <a:rPr sz="1634" b="1" dirty="0">
                <a:latin typeface="Arial"/>
                <a:cs typeface="Arial"/>
              </a:rPr>
              <a:t>(Manual</a:t>
            </a:r>
            <a:r>
              <a:rPr sz="1634" b="1" spc="-23" dirty="0">
                <a:latin typeface="Arial"/>
                <a:cs typeface="Arial"/>
              </a:rPr>
              <a:t> </a:t>
            </a:r>
            <a:r>
              <a:rPr sz="1634" b="1" dirty="0">
                <a:latin typeface="Arial"/>
                <a:cs typeface="Arial"/>
              </a:rPr>
              <a:t>with</a:t>
            </a:r>
            <a:r>
              <a:rPr sz="1634" b="1" spc="-27" dirty="0">
                <a:latin typeface="Arial"/>
                <a:cs typeface="Arial"/>
              </a:rPr>
              <a:t> </a:t>
            </a:r>
            <a:r>
              <a:rPr sz="1634" b="1" dirty="0">
                <a:latin typeface="Arial"/>
                <a:cs typeface="Arial"/>
              </a:rPr>
              <a:t>some</a:t>
            </a:r>
            <a:r>
              <a:rPr sz="1634" b="1" spc="-27" dirty="0">
                <a:latin typeface="Arial"/>
                <a:cs typeface="Arial"/>
              </a:rPr>
              <a:t> </a:t>
            </a:r>
            <a:r>
              <a:rPr sz="1634" b="1" dirty="0">
                <a:latin typeface="Arial"/>
                <a:cs typeface="Arial"/>
              </a:rPr>
              <a:t>tool</a:t>
            </a:r>
            <a:r>
              <a:rPr sz="1634" b="1" spc="-18" dirty="0">
                <a:latin typeface="Arial"/>
                <a:cs typeface="Arial"/>
              </a:rPr>
              <a:t> </a:t>
            </a:r>
            <a:r>
              <a:rPr sz="1634" b="1" spc="-9" dirty="0">
                <a:latin typeface="Arial"/>
                <a:cs typeface="Arial"/>
              </a:rPr>
              <a:t>support)</a:t>
            </a:r>
            <a:endParaRPr sz="1634">
              <a:latin typeface="Arial"/>
              <a:cs typeface="Arial"/>
            </a:endParaRPr>
          </a:p>
        </p:txBody>
      </p:sp>
      <p:sp>
        <p:nvSpPr>
          <p:cNvPr id="36" name="object 36"/>
          <p:cNvSpPr/>
          <p:nvPr/>
        </p:nvSpPr>
        <p:spPr>
          <a:xfrm>
            <a:off x="8669766" y="4408714"/>
            <a:ext cx="1998617" cy="1479945"/>
          </a:xfrm>
          <a:custGeom>
            <a:avLst/>
            <a:gdLst/>
            <a:ahLst/>
            <a:cxnLst/>
            <a:rect l="l" t="t" r="r" b="b"/>
            <a:pathLst>
              <a:path w="2202179" h="1630679">
                <a:moveTo>
                  <a:pt x="2202180" y="0"/>
                </a:moveTo>
                <a:lnTo>
                  <a:pt x="0" y="0"/>
                </a:lnTo>
                <a:lnTo>
                  <a:pt x="0" y="1630680"/>
                </a:lnTo>
                <a:lnTo>
                  <a:pt x="2202180" y="1630680"/>
                </a:lnTo>
                <a:lnTo>
                  <a:pt x="2202180" y="0"/>
                </a:lnTo>
                <a:close/>
              </a:path>
            </a:pathLst>
          </a:custGeom>
          <a:solidFill>
            <a:srgbClr val="E5E5E5"/>
          </a:solidFill>
        </p:spPr>
        <p:txBody>
          <a:bodyPr wrap="square" lIns="0" tIns="0" rIns="0" bIns="0" rtlCol="0"/>
          <a:lstStyle/>
          <a:p>
            <a:endParaRPr sz="1634"/>
          </a:p>
        </p:txBody>
      </p:sp>
      <p:sp>
        <p:nvSpPr>
          <p:cNvPr id="37" name="object 37"/>
          <p:cNvSpPr txBox="1"/>
          <p:nvPr/>
        </p:nvSpPr>
        <p:spPr>
          <a:xfrm>
            <a:off x="8740076" y="4417934"/>
            <a:ext cx="1561780" cy="1418163"/>
          </a:xfrm>
          <a:prstGeom prst="rect">
            <a:avLst/>
          </a:prstGeom>
        </p:spPr>
        <p:txBody>
          <a:bodyPr vert="horz" wrap="square" lIns="0" tIns="32848" rIns="0" bIns="0" rtlCol="0">
            <a:spAutoFit/>
          </a:bodyPr>
          <a:lstStyle/>
          <a:p>
            <a:pPr marL="11527" marR="4611">
              <a:lnSpc>
                <a:spcPts val="1833"/>
              </a:lnSpc>
              <a:spcBef>
                <a:spcPts val="258"/>
              </a:spcBef>
            </a:pPr>
            <a:r>
              <a:rPr sz="1634" spc="-9" dirty="0">
                <a:latin typeface="Arial MT"/>
                <a:cs typeface="Arial MT"/>
              </a:rPr>
              <a:t>Architectural </a:t>
            </a:r>
            <a:r>
              <a:rPr sz="1634" dirty="0">
                <a:latin typeface="Arial MT"/>
                <a:cs typeface="Arial MT"/>
              </a:rPr>
              <a:t>patterns</a:t>
            </a:r>
            <a:r>
              <a:rPr sz="1634" spc="-36" dirty="0">
                <a:latin typeface="Arial MT"/>
                <a:cs typeface="Arial MT"/>
              </a:rPr>
              <a:t> </a:t>
            </a:r>
            <a:r>
              <a:rPr sz="1634" spc="-9" dirty="0">
                <a:latin typeface="Arial MT"/>
                <a:cs typeface="Arial MT"/>
              </a:rPr>
              <a:t>(MVC, </a:t>
            </a:r>
            <a:r>
              <a:rPr sz="1634" dirty="0">
                <a:latin typeface="Arial MT"/>
                <a:cs typeface="Arial MT"/>
              </a:rPr>
              <a:t>MDD,</a:t>
            </a:r>
            <a:r>
              <a:rPr sz="1634" spc="-32" dirty="0">
                <a:latin typeface="Arial MT"/>
                <a:cs typeface="Arial MT"/>
              </a:rPr>
              <a:t> </a:t>
            </a:r>
            <a:r>
              <a:rPr sz="1634" dirty="0">
                <a:latin typeface="Arial MT"/>
                <a:cs typeface="Arial MT"/>
              </a:rPr>
              <a:t>etc.)</a:t>
            </a:r>
            <a:r>
              <a:rPr sz="1634" spc="-41" dirty="0">
                <a:latin typeface="Arial MT"/>
                <a:cs typeface="Arial MT"/>
              </a:rPr>
              <a:t> </a:t>
            </a:r>
            <a:r>
              <a:rPr sz="1634" spc="-23" dirty="0">
                <a:latin typeface="Arial MT"/>
                <a:cs typeface="Arial MT"/>
              </a:rPr>
              <a:t>and </a:t>
            </a:r>
            <a:r>
              <a:rPr sz="1634" dirty="0">
                <a:latin typeface="Arial MT"/>
                <a:cs typeface="Arial MT"/>
              </a:rPr>
              <a:t>Design</a:t>
            </a:r>
            <a:r>
              <a:rPr sz="1634" spc="-54" dirty="0">
                <a:latin typeface="Arial MT"/>
                <a:cs typeface="Arial MT"/>
              </a:rPr>
              <a:t> </a:t>
            </a:r>
            <a:r>
              <a:rPr sz="1634" spc="-9" dirty="0">
                <a:latin typeface="Arial MT"/>
                <a:cs typeface="Arial MT"/>
              </a:rPr>
              <a:t>Patterns </a:t>
            </a:r>
            <a:r>
              <a:rPr sz="1634" dirty="0">
                <a:latin typeface="Arial MT"/>
                <a:cs typeface="Arial MT"/>
              </a:rPr>
              <a:t>(State</a:t>
            </a:r>
            <a:r>
              <a:rPr sz="1634" spc="-18" dirty="0">
                <a:latin typeface="Arial MT"/>
                <a:cs typeface="Arial MT"/>
              </a:rPr>
              <a:t> </a:t>
            </a:r>
            <a:r>
              <a:rPr sz="1634" dirty="0">
                <a:latin typeface="Arial MT"/>
                <a:cs typeface="Arial MT"/>
              </a:rPr>
              <a:t>/</a:t>
            </a:r>
            <a:r>
              <a:rPr sz="1634" spc="-5" dirty="0">
                <a:latin typeface="Arial MT"/>
                <a:cs typeface="Arial MT"/>
              </a:rPr>
              <a:t> </a:t>
            </a:r>
            <a:r>
              <a:rPr sz="1634" spc="-23" dirty="0">
                <a:latin typeface="Arial MT"/>
                <a:cs typeface="Arial MT"/>
              </a:rPr>
              <a:t>Strategy, </a:t>
            </a:r>
            <a:r>
              <a:rPr sz="1634" spc="-9" dirty="0">
                <a:latin typeface="Arial MT"/>
                <a:cs typeface="Arial MT"/>
              </a:rPr>
              <a:t>etc.)</a:t>
            </a:r>
            <a:endParaRPr sz="1634">
              <a:latin typeface="Arial MT"/>
              <a:cs typeface="Arial MT"/>
            </a:endParaRPr>
          </a:p>
        </p:txBody>
      </p:sp>
      <p:sp>
        <p:nvSpPr>
          <p:cNvPr id="38" name="object 38"/>
          <p:cNvSpPr/>
          <p:nvPr/>
        </p:nvSpPr>
        <p:spPr>
          <a:xfrm>
            <a:off x="1545515" y="5888658"/>
            <a:ext cx="1889120" cy="969341"/>
          </a:xfrm>
          <a:custGeom>
            <a:avLst/>
            <a:gdLst/>
            <a:ahLst/>
            <a:cxnLst/>
            <a:rect l="l" t="t" r="r" b="b"/>
            <a:pathLst>
              <a:path w="2081530" h="1068070">
                <a:moveTo>
                  <a:pt x="2081530" y="0"/>
                </a:moveTo>
                <a:lnTo>
                  <a:pt x="0" y="0"/>
                </a:lnTo>
                <a:lnTo>
                  <a:pt x="0" y="1068070"/>
                </a:lnTo>
                <a:lnTo>
                  <a:pt x="2081530" y="1068070"/>
                </a:lnTo>
                <a:lnTo>
                  <a:pt x="2081530" y="0"/>
                </a:lnTo>
                <a:close/>
              </a:path>
            </a:pathLst>
          </a:custGeom>
          <a:solidFill>
            <a:srgbClr val="CCCCCC"/>
          </a:solidFill>
        </p:spPr>
        <p:txBody>
          <a:bodyPr wrap="square" lIns="0" tIns="0" rIns="0" bIns="0" rtlCol="0"/>
          <a:lstStyle/>
          <a:p>
            <a:endParaRPr sz="1634"/>
          </a:p>
        </p:txBody>
      </p:sp>
      <p:sp>
        <p:nvSpPr>
          <p:cNvPr id="39" name="object 39"/>
          <p:cNvSpPr txBox="1"/>
          <p:nvPr/>
        </p:nvSpPr>
        <p:spPr>
          <a:xfrm>
            <a:off x="1615825" y="5899032"/>
            <a:ext cx="1102467" cy="494834"/>
          </a:xfrm>
          <a:prstGeom prst="rect">
            <a:avLst/>
          </a:prstGeom>
        </p:spPr>
        <p:txBody>
          <a:bodyPr vert="horz" wrap="square" lIns="0" tIns="32848" rIns="0" bIns="0" rtlCol="0">
            <a:spAutoFit/>
          </a:bodyPr>
          <a:lstStyle/>
          <a:p>
            <a:pPr marL="11527" marR="4611">
              <a:lnSpc>
                <a:spcPts val="1833"/>
              </a:lnSpc>
              <a:spcBef>
                <a:spcPts val="258"/>
              </a:spcBef>
            </a:pPr>
            <a:r>
              <a:rPr sz="1634" dirty="0">
                <a:latin typeface="Arial MT"/>
                <a:cs typeface="Arial MT"/>
              </a:rPr>
              <a:t>Data</a:t>
            </a:r>
            <a:r>
              <a:rPr sz="1634" spc="-36" dirty="0">
                <a:latin typeface="Arial MT"/>
                <a:cs typeface="Arial MT"/>
              </a:rPr>
              <a:t> </a:t>
            </a:r>
            <a:r>
              <a:rPr sz="1634" spc="-23" dirty="0">
                <a:latin typeface="Arial MT"/>
                <a:cs typeface="Arial MT"/>
              </a:rPr>
              <a:t>Re- </a:t>
            </a:r>
            <a:r>
              <a:rPr sz="1634" spc="-9" dirty="0">
                <a:latin typeface="Arial MT"/>
                <a:cs typeface="Arial MT"/>
              </a:rPr>
              <a:t>engineering</a:t>
            </a:r>
            <a:endParaRPr sz="1634">
              <a:latin typeface="Arial MT"/>
              <a:cs typeface="Arial MT"/>
            </a:endParaRPr>
          </a:p>
        </p:txBody>
      </p:sp>
      <p:sp>
        <p:nvSpPr>
          <p:cNvPr id="40" name="object 40"/>
          <p:cNvSpPr/>
          <p:nvPr/>
        </p:nvSpPr>
        <p:spPr>
          <a:xfrm>
            <a:off x="3434635" y="5888658"/>
            <a:ext cx="5235132" cy="969341"/>
          </a:xfrm>
          <a:custGeom>
            <a:avLst/>
            <a:gdLst/>
            <a:ahLst/>
            <a:cxnLst/>
            <a:rect l="l" t="t" r="r" b="b"/>
            <a:pathLst>
              <a:path w="5768340" h="1068070">
                <a:moveTo>
                  <a:pt x="5768339" y="0"/>
                </a:moveTo>
                <a:lnTo>
                  <a:pt x="0" y="0"/>
                </a:lnTo>
                <a:lnTo>
                  <a:pt x="0" y="1068070"/>
                </a:lnTo>
                <a:lnTo>
                  <a:pt x="5768339" y="1068070"/>
                </a:lnTo>
                <a:lnTo>
                  <a:pt x="5768339" y="0"/>
                </a:lnTo>
                <a:close/>
              </a:path>
            </a:pathLst>
          </a:custGeom>
          <a:solidFill>
            <a:srgbClr val="CCCCCC"/>
          </a:solidFill>
        </p:spPr>
        <p:txBody>
          <a:bodyPr wrap="square" lIns="0" tIns="0" rIns="0" bIns="0" rtlCol="0"/>
          <a:lstStyle/>
          <a:p>
            <a:endParaRPr sz="1634"/>
          </a:p>
        </p:txBody>
      </p:sp>
      <p:sp>
        <p:nvSpPr>
          <p:cNvPr id="41" name="object 41"/>
          <p:cNvSpPr txBox="1"/>
          <p:nvPr/>
        </p:nvSpPr>
        <p:spPr>
          <a:xfrm>
            <a:off x="3504943" y="5899032"/>
            <a:ext cx="4764293" cy="263118"/>
          </a:xfrm>
          <a:prstGeom prst="rect">
            <a:avLst/>
          </a:prstGeom>
        </p:spPr>
        <p:txBody>
          <a:bodyPr vert="horz" wrap="square" lIns="0" tIns="11526" rIns="0" bIns="0" rtlCol="0">
            <a:spAutoFit/>
          </a:bodyPr>
          <a:lstStyle/>
          <a:p>
            <a:pPr marL="11527">
              <a:spcBef>
                <a:spcPts val="91"/>
              </a:spcBef>
            </a:pPr>
            <a:r>
              <a:rPr sz="1634" dirty="0">
                <a:latin typeface="Arial MT"/>
                <a:cs typeface="Arial MT"/>
              </a:rPr>
              <a:t>Changes</a:t>
            </a:r>
            <a:r>
              <a:rPr sz="1634" spc="-50" dirty="0">
                <a:latin typeface="Arial MT"/>
                <a:cs typeface="Arial MT"/>
              </a:rPr>
              <a:t> </a:t>
            </a:r>
            <a:r>
              <a:rPr sz="1634" dirty="0">
                <a:latin typeface="Arial MT"/>
                <a:cs typeface="Arial MT"/>
              </a:rPr>
              <a:t>to</a:t>
            </a:r>
            <a:r>
              <a:rPr sz="1634" spc="-45" dirty="0">
                <a:latin typeface="Arial MT"/>
                <a:cs typeface="Arial MT"/>
              </a:rPr>
              <a:t> </a:t>
            </a:r>
            <a:r>
              <a:rPr sz="1634" dirty="0">
                <a:latin typeface="Arial MT"/>
                <a:cs typeface="Arial MT"/>
              </a:rPr>
              <a:t>database</a:t>
            </a:r>
            <a:r>
              <a:rPr sz="1634" spc="-45" dirty="0">
                <a:latin typeface="Arial MT"/>
                <a:cs typeface="Arial MT"/>
              </a:rPr>
              <a:t> </a:t>
            </a:r>
            <a:r>
              <a:rPr sz="1634" dirty="0">
                <a:latin typeface="Arial MT"/>
                <a:cs typeface="Arial MT"/>
              </a:rPr>
              <a:t>schema,</a:t>
            </a:r>
            <a:r>
              <a:rPr sz="1634" spc="-36" dirty="0">
                <a:latin typeface="Arial MT"/>
                <a:cs typeface="Arial MT"/>
              </a:rPr>
              <a:t> </a:t>
            </a:r>
            <a:r>
              <a:rPr sz="1634" dirty="0">
                <a:latin typeface="Arial MT"/>
                <a:cs typeface="Arial MT"/>
              </a:rPr>
              <a:t>transformations,</a:t>
            </a:r>
            <a:r>
              <a:rPr sz="1634" spc="-36" dirty="0">
                <a:latin typeface="Arial MT"/>
                <a:cs typeface="Arial MT"/>
              </a:rPr>
              <a:t> </a:t>
            </a:r>
            <a:r>
              <a:rPr sz="1634" spc="-18" dirty="0">
                <a:latin typeface="Arial MT"/>
                <a:cs typeface="Arial MT"/>
              </a:rPr>
              <a:t>etc.</a:t>
            </a:r>
            <a:endParaRPr sz="1634">
              <a:latin typeface="Arial MT"/>
              <a:cs typeface="Arial MT"/>
            </a:endParaRPr>
          </a:p>
        </p:txBody>
      </p:sp>
      <p:sp>
        <p:nvSpPr>
          <p:cNvPr id="42" name="object 42"/>
          <p:cNvSpPr txBox="1"/>
          <p:nvPr/>
        </p:nvSpPr>
        <p:spPr>
          <a:xfrm>
            <a:off x="3504943" y="6370448"/>
            <a:ext cx="1922545" cy="263118"/>
          </a:xfrm>
          <a:prstGeom prst="rect">
            <a:avLst/>
          </a:prstGeom>
        </p:spPr>
        <p:txBody>
          <a:bodyPr vert="horz" wrap="square" lIns="0" tIns="11526" rIns="0" bIns="0" rtlCol="0">
            <a:spAutoFit/>
          </a:bodyPr>
          <a:lstStyle/>
          <a:p>
            <a:pPr marL="11527">
              <a:spcBef>
                <a:spcPts val="91"/>
              </a:spcBef>
            </a:pPr>
            <a:r>
              <a:rPr sz="1634" b="1" dirty="0">
                <a:latin typeface="Arial"/>
                <a:cs typeface="Arial"/>
              </a:rPr>
              <a:t>(Mostly</a:t>
            </a:r>
            <a:r>
              <a:rPr sz="1634" b="1" spc="-82" dirty="0">
                <a:latin typeface="Arial"/>
                <a:cs typeface="Arial"/>
              </a:rPr>
              <a:t> </a:t>
            </a:r>
            <a:r>
              <a:rPr sz="1634" b="1" spc="-9" dirty="0">
                <a:latin typeface="Arial"/>
                <a:cs typeface="Arial"/>
              </a:rPr>
              <a:t>automated)</a:t>
            </a:r>
            <a:endParaRPr sz="1634">
              <a:latin typeface="Arial"/>
              <a:cs typeface="Arial"/>
            </a:endParaRPr>
          </a:p>
        </p:txBody>
      </p:sp>
      <p:sp>
        <p:nvSpPr>
          <p:cNvPr id="43" name="object 43"/>
          <p:cNvSpPr/>
          <p:nvPr/>
        </p:nvSpPr>
        <p:spPr>
          <a:xfrm>
            <a:off x="8669766" y="5888658"/>
            <a:ext cx="1997465" cy="969341"/>
          </a:xfrm>
          <a:custGeom>
            <a:avLst/>
            <a:gdLst/>
            <a:ahLst/>
            <a:cxnLst/>
            <a:rect l="l" t="t" r="r" b="b"/>
            <a:pathLst>
              <a:path w="2200909" h="1068070">
                <a:moveTo>
                  <a:pt x="0" y="1068070"/>
                </a:moveTo>
                <a:lnTo>
                  <a:pt x="0" y="0"/>
                </a:lnTo>
                <a:lnTo>
                  <a:pt x="2200909" y="0"/>
                </a:lnTo>
                <a:lnTo>
                  <a:pt x="2200909" y="1068070"/>
                </a:lnTo>
                <a:lnTo>
                  <a:pt x="0" y="1068070"/>
                </a:lnTo>
                <a:close/>
              </a:path>
            </a:pathLst>
          </a:custGeom>
          <a:solidFill>
            <a:srgbClr val="CCCCCC"/>
          </a:solidFill>
        </p:spPr>
        <p:txBody>
          <a:bodyPr wrap="square" lIns="0" tIns="0" rIns="0" bIns="0" rtlCol="0"/>
          <a:lstStyle/>
          <a:p>
            <a:endParaRPr sz="1634"/>
          </a:p>
        </p:txBody>
      </p:sp>
      <p:sp>
        <p:nvSpPr>
          <p:cNvPr id="44" name="object 44"/>
          <p:cNvSpPr txBox="1"/>
          <p:nvPr/>
        </p:nvSpPr>
        <p:spPr>
          <a:xfrm>
            <a:off x="8740077" y="5899032"/>
            <a:ext cx="1406754" cy="956498"/>
          </a:xfrm>
          <a:prstGeom prst="rect">
            <a:avLst/>
          </a:prstGeom>
        </p:spPr>
        <p:txBody>
          <a:bodyPr vert="horz" wrap="square" lIns="0" tIns="32848" rIns="0" bIns="0" rtlCol="0">
            <a:spAutoFit/>
          </a:bodyPr>
          <a:lstStyle/>
          <a:p>
            <a:pPr marL="11527" marR="4611">
              <a:lnSpc>
                <a:spcPts val="1833"/>
              </a:lnSpc>
              <a:spcBef>
                <a:spcPts val="258"/>
              </a:spcBef>
            </a:pPr>
            <a:r>
              <a:rPr sz="1634" dirty="0">
                <a:latin typeface="Arial MT"/>
                <a:cs typeface="Arial MT"/>
              </a:rPr>
              <a:t>ETL</a:t>
            </a:r>
            <a:r>
              <a:rPr sz="1634" spc="-113" dirty="0">
                <a:latin typeface="Arial MT"/>
                <a:cs typeface="Arial MT"/>
              </a:rPr>
              <a:t> </a:t>
            </a:r>
            <a:r>
              <a:rPr sz="1634" spc="-23" dirty="0">
                <a:latin typeface="Arial MT"/>
                <a:cs typeface="Arial MT"/>
              </a:rPr>
              <a:t>Tools</a:t>
            </a:r>
            <a:r>
              <a:rPr sz="1634" spc="-73" dirty="0">
                <a:latin typeface="Arial MT"/>
                <a:cs typeface="Arial MT"/>
              </a:rPr>
              <a:t> </a:t>
            </a:r>
            <a:r>
              <a:rPr sz="1634" spc="-9" dirty="0">
                <a:latin typeface="Arial MT"/>
                <a:cs typeface="Arial MT"/>
              </a:rPr>
              <a:t>(e.g. </a:t>
            </a:r>
            <a:r>
              <a:rPr sz="1634" dirty="0">
                <a:latin typeface="Arial MT"/>
                <a:cs typeface="Arial MT"/>
              </a:rPr>
              <a:t>SQL</a:t>
            </a:r>
            <a:r>
              <a:rPr sz="1634" spc="-77" dirty="0">
                <a:latin typeface="Arial MT"/>
                <a:cs typeface="Arial MT"/>
              </a:rPr>
              <a:t> </a:t>
            </a:r>
            <a:r>
              <a:rPr sz="1634" spc="-9" dirty="0">
                <a:latin typeface="Arial MT"/>
                <a:cs typeface="Arial MT"/>
              </a:rPr>
              <a:t>Server Integration </a:t>
            </a:r>
            <a:r>
              <a:rPr sz="1634" dirty="0">
                <a:latin typeface="Arial MT"/>
                <a:cs typeface="Arial MT"/>
              </a:rPr>
              <a:t>Services,</a:t>
            </a:r>
            <a:r>
              <a:rPr sz="1634" spc="-59" dirty="0">
                <a:latin typeface="Arial MT"/>
                <a:cs typeface="Arial MT"/>
              </a:rPr>
              <a:t> </a:t>
            </a:r>
            <a:r>
              <a:rPr sz="1634" spc="-18" dirty="0">
                <a:latin typeface="Arial MT"/>
                <a:cs typeface="Arial MT"/>
              </a:rPr>
              <a:t>etc.)</a:t>
            </a:r>
            <a:endParaRPr sz="1634">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4C6D3-BDD3-4733-8727-74AD2509C6AC}"/>
              </a:ext>
            </a:extLst>
          </p:cNvPr>
          <p:cNvSpPr>
            <a:spLocks noGrp="1"/>
          </p:cNvSpPr>
          <p:nvPr>
            <p:ph type="title"/>
          </p:nvPr>
        </p:nvSpPr>
        <p:spPr/>
        <p:txBody>
          <a:bodyPr/>
          <a:lstStyle/>
          <a:p>
            <a:r>
              <a:rPr lang="en-US" dirty="0"/>
              <a:t>Reference Material</a:t>
            </a:r>
            <a:endParaRPr lang="en-PK" dirty="0"/>
          </a:p>
        </p:txBody>
      </p:sp>
      <p:sp>
        <p:nvSpPr>
          <p:cNvPr id="3" name="Content Placeholder 2">
            <a:extLst>
              <a:ext uri="{FF2B5EF4-FFF2-40B4-BE49-F238E27FC236}">
                <a16:creationId xmlns:a16="http://schemas.microsoft.com/office/drawing/2014/main" id="{2AA974BA-C51E-4B41-A60B-31FD3F7757BE}"/>
              </a:ext>
            </a:extLst>
          </p:cNvPr>
          <p:cNvSpPr>
            <a:spLocks noGrp="1"/>
          </p:cNvSpPr>
          <p:nvPr>
            <p:ph idx="1"/>
          </p:nvPr>
        </p:nvSpPr>
        <p:spPr/>
        <p:txBody>
          <a:bodyPr/>
          <a:lstStyle/>
          <a:p>
            <a:r>
              <a:rPr lang="en-US" dirty="0"/>
              <a:t>Read Ch 1 of OORP book</a:t>
            </a:r>
          </a:p>
        </p:txBody>
      </p:sp>
    </p:spTree>
    <p:extLst>
      <p:ext uri="{BB962C8B-B14F-4D97-AF65-F5344CB8AC3E}">
        <p14:creationId xmlns:p14="http://schemas.microsoft.com/office/powerpoint/2010/main" val="2967037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971</Words>
  <Application>Microsoft Office PowerPoint</Application>
  <PresentationFormat>Widescreen</PresentationFormat>
  <Paragraphs>131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MT</vt:lpstr>
      <vt:lpstr>Calibri</vt:lpstr>
      <vt:lpstr>Calibri Light</vt:lpstr>
      <vt:lpstr>Trebuchet MS</vt:lpstr>
      <vt:lpstr>URWPalladioL-Ital</vt:lpstr>
      <vt:lpstr>URWPalladioL-Roma</vt:lpstr>
      <vt:lpstr>Office Theme</vt:lpstr>
      <vt:lpstr>Software Re-Engineering CS4118</vt:lpstr>
      <vt:lpstr>A Fairy Tale</vt:lpstr>
      <vt:lpstr>A Fairy Tale</vt:lpstr>
      <vt:lpstr>Manny Lehman and Les Belady Laws</vt:lpstr>
      <vt:lpstr>Legacy Systems</vt:lpstr>
      <vt:lpstr>Legacy Systems</vt:lpstr>
      <vt:lpstr>Goal of Re-Engineering</vt:lpstr>
      <vt:lpstr>Reasons of Re-Engineering</vt:lpstr>
      <vt:lpstr>Re-Engineering Life Cycle</vt:lpstr>
      <vt:lpstr>Re-Engineering Life Cycle</vt:lpstr>
      <vt:lpstr>PowerPoint Presentation</vt:lpstr>
      <vt:lpstr>Software Engineering challenges</vt:lpstr>
      <vt:lpstr>Software Engineering challenges</vt:lpstr>
      <vt:lpstr>Software Engineering challenges</vt:lpstr>
      <vt:lpstr>Remedial measures</vt:lpstr>
      <vt:lpstr>Software Re-Engineering</vt:lpstr>
      <vt:lpstr>Software Re-Engineering Activities</vt:lpstr>
      <vt:lpstr>Reference Material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Re-Engineering SE4113</dc:title>
  <dc:creator>Arslan Asif</dc:creator>
  <cp:lastModifiedBy>Arslan Asif</cp:lastModifiedBy>
  <cp:revision>15</cp:revision>
  <dcterms:created xsi:type="dcterms:W3CDTF">2021-10-14T07:34:41Z</dcterms:created>
  <dcterms:modified xsi:type="dcterms:W3CDTF">2026-08-20T07:32:08Z</dcterms:modified>
</cp:coreProperties>
</file>